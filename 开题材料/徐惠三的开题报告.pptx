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4"/>
  </p:notesMasterIdLst>
  <p:sldIdLst>
    <p:sldId id="3165" r:id="rId3"/>
    <p:sldId id="294" r:id="rId5"/>
    <p:sldId id="306" r:id="rId6"/>
    <p:sldId id="307" r:id="rId7"/>
    <p:sldId id="308" r:id="rId8"/>
    <p:sldId id="3167" r:id="rId9"/>
    <p:sldId id="3166" r:id="rId10"/>
    <p:sldId id="283" r:id="rId11"/>
    <p:sldId id="303" r:id="rId12"/>
    <p:sldId id="310" r:id="rId13"/>
    <p:sldId id="311" r:id="rId14"/>
    <p:sldId id="313" r:id="rId15"/>
    <p:sldId id="314" r:id="rId16"/>
    <p:sldId id="266" r:id="rId17"/>
  </p:sldIdLst>
  <p:sldSz cx="12192000" cy="6858000"/>
  <p:notesSz cx="7103745" cy="10234295"/>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 yx" initials="W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C8AC9"/>
    <a:srgbClr val="0B479C"/>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08" autoAdjust="0"/>
    <p:restoredTop sz="94660"/>
  </p:normalViewPr>
  <p:slideViewPr>
    <p:cSldViewPr snapToGrid="0">
      <p:cViewPr varScale="1">
        <p:scale>
          <a:sx n="67" d="100"/>
          <a:sy n="67" d="100"/>
        </p:scale>
        <p:origin x="84"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29.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234A76-5AB9-466F-AD0D-6F8DA4B0263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AC9CA83-13BB-0847-A116-7382AB6BFD3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FD68F2C-C2A6-9A46-8D9C-92EDCEF36E7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05A5652-E51A-7E4B-8D3F-F25B486361AD}"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E26CEA6-F200-4D49-894F-A403EE7B081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11F9E3C-C7F0-3A4D-B427-F7CC5C4A6E54}"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03D3634-28AA-9949-9356-44B6B24CB2D3}"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3341FE-A406-1D42-925C-92F78C195036}"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CE393E0-B874-D146-93FB-0618211F48E9}"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AAB652F-DCE4-2E45-89EE-5CDAB4B4D7D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3BF71694-2D11-EC45-B527-F7564CDF4AB5}"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3E7FAE"/>
            </a:gs>
            <a:gs pos="1000">
              <a:schemeClr val="bg1"/>
            </a:gs>
            <a:gs pos="97000">
              <a:schemeClr val="accent1"/>
            </a:gs>
          </a:gsLst>
          <a:lin ang="27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552DC7-CB70-4C4F-945A-49D58B790E8A}"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3.tiff"/><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jpeg"/><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23.jpeg"/><Relationship Id="rId2" Type="http://schemas.openxmlformats.org/officeDocument/2006/relationships/tags" Target="../tags/tag23.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tags" Target="../tags/tag25.xml"/><Relationship Id="rId1" Type="http://schemas.openxmlformats.org/officeDocument/2006/relationships/tags" Target="../tags/tag2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7.xml"/><Relationship Id="rId1" Type="http://schemas.openxmlformats.org/officeDocument/2006/relationships/tags" Target="../tags/tag2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BEBA8EAE-BF5A-486C-A8C5-ECC9F3942E4B}">
                <a14:imgProps xmlns:a14="http://schemas.microsoft.com/office/drawing/2010/main">
                  <a14:imgLayer r:embed="rId2">
                    <a14:imgEffect>
                      <a14:colorTemperature colorTemp="11200"/>
                    </a14:imgEffect>
                    <a14:imgEffect>
                      <a14:saturation sat="400000"/>
                    </a14:imgEffect>
                  </a14:imgLayer>
                </a14:imgProps>
              </a:ext>
              <a:ext uri="{28A0092B-C50C-407E-A947-70E740481C1C}">
                <a14:useLocalDpi xmlns:a14="http://schemas.microsoft.com/office/drawing/2010/main" val="0"/>
              </a:ext>
            </a:extLst>
          </a:blip>
          <a:srcRect l="1476" t="1100" r="17863"/>
          <a:stretch>
            <a:fillRect/>
          </a:stretch>
        </p:blipFill>
        <p:spPr>
          <a:xfrm>
            <a:off x="-135403" y="2561308"/>
            <a:ext cx="6229868" cy="4296691"/>
          </a:xfrm>
          <a:prstGeom prst="rect">
            <a:avLst/>
          </a:prstGeom>
        </p:spPr>
      </p:pic>
      <p:grpSp>
        <p:nvGrpSpPr>
          <p:cNvPr id="5" name="组合 4"/>
          <p:cNvGrpSpPr/>
          <p:nvPr/>
        </p:nvGrpSpPr>
        <p:grpSpPr>
          <a:xfrm>
            <a:off x="480834" y="314960"/>
            <a:ext cx="6003787" cy="275590"/>
            <a:chOff x="133378" y="328805"/>
            <a:chExt cx="9004436" cy="292754"/>
          </a:xfrm>
        </p:grpSpPr>
        <p:sp>
          <p:nvSpPr>
            <p:cNvPr id="6" name="文本框 5"/>
            <p:cNvSpPr txBox="1"/>
            <p:nvPr/>
          </p:nvSpPr>
          <p:spPr>
            <a:xfrm>
              <a:off x="133378" y="328805"/>
              <a:ext cx="2279970" cy="292754"/>
            </a:xfrm>
            <a:prstGeom prst="rect">
              <a:avLst/>
            </a:prstGeom>
            <a:noFill/>
          </p:spPr>
          <p:txBody>
            <a:bodyPr wrap="square" rtlCol="0">
              <a:spAutoFit/>
            </a:bodyPr>
            <a:lstStyle/>
            <a:p>
              <a:r>
                <a:rPr lang="en-US" altLang="zh-CN" sz="1200" dirty="0">
                  <a:solidFill>
                    <a:schemeClr val="bg1"/>
                  </a:solidFill>
                  <a:latin typeface="方正黑体简体" panose="03000509000000000000" pitchFamily="65" charset="-122"/>
                  <a:ea typeface="方正黑体简体" panose="03000509000000000000" pitchFamily="65" charset="-122"/>
                </a:rPr>
                <a:t>Oblivious Transfer</a:t>
              </a:r>
              <a:endParaRPr lang="en-US" altLang="zh-CN" sz="1200" dirty="0">
                <a:solidFill>
                  <a:schemeClr val="bg1"/>
                </a:solidFill>
                <a:latin typeface="方正黑体简体" panose="03000509000000000000" pitchFamily="65" charset="-122"/>
                <a:ea typeface="方正黑体简体" panose="03000509000000000000" pitchFamily="65" charset="-122"/>
              </a:endParaRPr>
            </a:p>
          </p:txBody>
        </p:sp>
        <p:sp>
          <p:nvSpPr>
            <p:cNvPr id="8" name="文本框 7"/>
            <p:cNvSpPr txBox="1"/>
            <p:nvPr/>
          </p:nvSpPr>
          <p:spPr>
            <a:xfrm>
              <a:off x="5613098" y="328805"/>
              <a:ext cx="3524716" cy="292754"/>
            </a:xfrm>
            <a:prstGeom prst="rect">
              <a:avLst/>
            </a:prstGeom>
            <a:noFill/>
          </p:spPr>
          <p:txBody>
            <a:bodyPr wrap="square" rtlCol="0">
              <a:spAutoFit/>
            </a:bodyPr>
            <a:lstStyle/>
            <a:p>
              <a:r>
                <a:rPr lang="en-US" altLang="zh-CN" sz="1200" dirty="0">
                  <a:solidFill>
                    <a:schemeClr val="bg1"/>
                  </a:solidFill>
                  <a:latin typeface="方正黑体简体" panose="03000509000000000000" pitchFamily="65" charset="-122"/>
                  <a:ea typeface="方正黑体简体" panose="03000509000000000000" pitchFamily="65" charset="-122"/>
                </a:rPr>
                <a:t>Secure Multi-party Computation</a:t>
              </a:r>
              <a:endParaRPr lang="en-US" altLang="zh-CN" sz="1200" dirty="0">
                <a:solidFill>
                  <a:schemeClr val="bg1"/>
                </a:solidFill>
                <a:latin typeface="方正黑体简体" panose="03000509000000000000" pitchFamily="65" charset="-122"/>
                <a:ea typeface="方正黑体简体" panose="03000509000000000000" pitchFamily="65" charset="-122"/>
              </a:endParaRPr>
            </a:p>
          </p:txBody>
        </p:sp>
        <p:sp>
          <p:nvSpPr>
            <p:cNvPr id="9" name="文本框 8"/>
            <p:cNvSpPr txBox="1"/>
            <p:nvPr/>
          </p:nvSpPr>
          <p:spPr>
            <a:xfrm>
              <a:off x="2873238" y="328805"/>
              <a:ext cx="2279970" cy="292754"/>
            </a:xfrm>
            <a:prstGeom prst="rect">
              <a:avLst/>
            </a:prstGeom>
            <a:noFill/>
          </p:spPr>
          <p:txBody>
            <a:bodyPr wrap="square" rtlCol="0">
              <a:spAutoFit/>
            </a:bodyPr>
            <a:lstStyle/>
            <a:p>
              <a:r>
                <a:rPr lang="en-US" altLang="zh-CN" sz="1200" dirty="0">
                  <a:solidFill>
                    <a:schemeClr val="bg1"/>
                  </a:solidFill>
                  <a:latin typeface="方正黑体简体" panose="03000509000000000000" pitchFamily="65" charset="-122"/>
                  <a:ea typeface="方正黑体简体" panose="03000509000000000000" pitchFamily="65" charset="-122"/>
                </a:rPr>
                <a:t>Garbled Circuit</a:t>
              </a:r>
              <a:endParaRPr lang="en-US" altLang="zh-CN" sz="1200" dirty="0">
                <a:solidFill>
                  <a:schemeClr val="bg1"/>
                </a:solidFill>
                <a:latin typeface="方正黑体简体" panose="03000509000000000000" pitchFamily="65" charset="-122"/>
                <a:ea typeface="方正黑体简体" panose="03000509000000000000" pitchFamily="65" charset="-122"/>
              </a:endParaRPr>
            </a:p>
          </p:txBody>
        </p:sp>
      </p:grpSp>
      <p:grpSp>
        <p:nvGrpSpPr>
          <p:cNvPr id="14" name="组合 13"/>
          <p:cNvGrpSpPr/>
          <p:nvPr/>
        </p:nvGrpSpPr>
        <p:grpSpPr>
          <a:xfrm>
            <a:off x="5946775" y="2871273"/>
            <a:ext cx="6097270" cy="3416319"/>
            <a:chOff x="6094464" y="2891205"/>
            <a:chExt cx="6097535" cy="2160009"/>
          </a:xfrm>
        </p:grpSpPr>
        <p:sp>
          <p:nvSpPr>
            <p:cNvPr id="4" name="文本框 3"/>
            <p:cNvSpPr txBox="1"/>
            <p:nvPr/>
          </p:nvSpPr>
          <p:spPr>
            <a:xfrm>
              <a:off x="6094464" y="2891205"/>
              <a:ext cx="6097535" cy="2160009"/>
            </a:xfrm>
            <a:prstGeom prst="rect">
              <a:avLst/>
            </a:prstGeom>
            <a:noFill/>
          </p:spPr>
          <p:txBody>
            <a:bodyPr wrap="square" rtlCol="0">
              <a:spAutoFit/>
            </a:bodyPr>
            <a:lstStyle/>
            <a:p>
              <a:pPr algn="ctr"/>
              <a:r>
                <a:rPr lang="zh-CN" altLang="en-US" sz="3600" b="1" kern="600" spc="600" dirty="0">
                  <a:latin typeface="微软雅黑" panose="020B0503020204020204" charset="-122"/>
                  <a:ea typeface="微软雅黑" panose="020B0503020204020204" charset="-122"/>
                  <a:cs typeface="+mn-ea"/>
                  <a:sym typeface="字魂59号-创粗黑" panose="00000500000000000000" pitchFamily="2" charset="-122"/>
                </a:rPr>
                <a:t>基于安全多方计算的</a:t>
              </a:r>
              <a:endParaRPr lang="en-US" altLang="zh-CN" sz="3600" b="1" kern="600" spc="600" dirty="0">
                <a:latin typeface="微软雅黑" panose="020B0503020204020204" charset="-122"/>
                <a:ea typeface="微软雅黑" panose="020B0503020204020204" charset="-122"/>
                <a:cs typeface="+mn-ea"/>
                <a:sym typeface="字魂59号-创粗黑" panose="00000500000000000000" pitchFamily="2" charset="-122"/>
              </a:endParaRPr>
            </a:p>
            <a:p>
              <a:pPr algn="ctr"/>
              <a:r>
                <a:rPr lang="zh-CN" altLang="en-US" sz="3600" b="1" kern="600" spc="600" dirty="0">
                  <a:latin typeface="微软雅黑" panose="020B0503020204020204" charset="-122"/>
                  <a:ea typeface="微软雅黑" panose="020B0503020204020204" charset="-122"/>
                  <a:cs typeface="+mn-ea"/>
                  <a:sym typeface="字魂59号-创粗黑" panose="00000500000000000000" pitchFamily="2" charset="-122"/>
                </a:rPr>
                <a:t>多管理域网络验证技术</a:t>
              </a:r>
              <a:endParaRPr lang="en-US" altLang="zh-CN" sz="3600" b="1" kern="600" spc="600" dirty="0">
                <a:latin typeface="微软雅黑" panose="020B0503020204020204" charset="-122"/>
                <a:ea typeface="微软雅黑" panose="020B0503020204020204" charset="-122"/>
                <a:cs typeface="+mn-ea"/>
                <a:sym typeface="字魂59号-创粗黑" panose="00000500000000000000" pitchFamily="2" charset="-122"/>
              </a:endParaRPr>
            </a:p>
            <a:p>
              <a:pPr algn="ctr"/>
              <a:endParaRPr lang="en-US" altLang="zh-CN" sz="3600" b="1" dirty="0">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a:p>
              <a:pPr algn="ctr"/>
              <a:r>
                <a:rPr lang="zh-CN" altLang="en-US" sz="2400" b="1" kern="600" spc="600" dirty="0">
                  <a:latin typeface="微软雅黑" panose="020B0503020204020204" charset="-122"/>
                  <a:ea typeface="微软雅黑" panose="020B0503020204020204" charset="-122"/>
                  <a:cs typeface="+mn-ea"/>
                  <a:sym typeface="字魂59号-创粗黑" panose="00000500000000000000" pitchFamily="2" charset="-122"/>
                </a:rPr>
                <a:t>汇报人：徐惠三</a:t>
              </a:r>
              <a:endParaRPr lang="en-US" altLang="zh-CN" sz="2400" b="1" kern="600" spc="600" dirty="0">
                <a:latin typeface="微软雅黑" panose="020B0503020204020204" charset="-122"/>
                <a:ea typeface="微软雅黑" panose="020B0503020204020204" charset="-122"/>
                <a:cs typeface="+mn-ea"/>
                <a:sym typeface="字魂59号-创粗黑" panose="00000500000000000000" pitchFamily="2" charset="-122"/>
              </a:endParaRPr>
            </a:p>
            <a:p>
              <a:pPr algn="ctr"/>
              <a:r>
                <a:rPr lang="zh-CN" altLang="en-US" sz="2400" b="1" kern="600" spc="600" dirty="0">
                  <a:latin typeface="微软雅黑" panose="020B0503020204020204" charset="-122"/>
                  <a:ea typeface="微软雅黑" panose="020B0503020204020204" charset="-122"/>
                  <a:cs typeface="+mn-ea"/>
                  <a:sym typeface="字魂59号-创粗黑" panose="00000500000000000000" pitchFamily="2" charset="-122"/>
                </a:rPr>
                <a:t>导师：向乔教授</a:t>
              </a:r>
              <a:endParaRPr lang="en-US" altLang="zh-CN" sz="2400" b="1" kern="600" spc="600" dirty="0">
                <a:latin typeface="微软雅黑" panose="020B0503020204020204" charset="-122"/>
                <a:ea typeface="微软雅黑" panose="020B0503020204020204" charset="-122"/>
                <a:cs typeface="+mn-ea"/>
                <a:sym typeface="字魂59号-创粗黑" panose="00000500000000000000" pitchFamily="2" charset="-122"/>
              </a:endParaRPr>
            </a:p>
            <a:p>
              <a:pPr algn="ctr"/>
              <a:r>
                <a:rPr lang="en-US" altLang="zh-CN" sz="2400" b="1" kern="600" spc="600" dirty="0">
                  <a:latin typeface="微软雅黑" panose="020B0503020204020204" charset="-122"/>
                  <a:ea typeface="微软雅黑" panose="020B0503020204020204" charset="-122"/>
                  <a:cs typeface="+mn-ea"/>
                  <a:sym typeface="字魂59号-创粗黑" panose="00000500000000000000" pitchFamily="2" charset="-122"/>
                </a:rPr>
                <a:t>2023</a:t>
              </a:r>
              <a:r>
                <a:rPr lang="zh-CN" altLang="en-US" sz="2400" b="1" kern="600" spc="600" dirty="0">
                  <a:latin typeface="微软雅黑" panose="020B0503020204020204" charset="-122"/>
                  <a:ea typeface="微软雅黑" panose="020B0503020204020204" charset="-122"/>
                  <a:cs typeface="+mn-ea"/>
                  <a:sym typeface="字魂59号-创粗黑" panose="00000500000000000000" pitchFamily="2" charset="-122"/>
                </a:rPr>
                <a:t>年</a:t>
              </a:r>
              <a:r>
                <a:rPr lang="en-US" altLang="zh-CN" sz="2400" b="1" kern="600" spc="600" dirty="0">
                  <a:latin typeface="微软雅黑" panose="020B0503020204020204" charset="-122"/>
                  <a:ea typeface="微软雅黑" panose="020B0503020204020204" charset="-122"/>
                  <a:cs typeface="+mn-ea"/>
                  <a:sym typeface="字魂59号-创粗黑" panose="00000500000000000000" pitchFamily="2" charset="-122"/>
                </a:rPr>
                <a:t>8</a:t>
              </a:r>
              <a:r>
                <a:rPr lang="zh-CN" altLang="en-US" sz="2400" b="1" kern="600" spc="600" dirty="0">
                  <a:latin typeface="微软雅黑" panose="020B0503020204020204" charset="-122"/>
                  <a:ea typeface="微软雅黑" panose="020B0503020204020204" charset="-122"/>
                  <a:cs typeface="+mn-ea"/>
                  <a:sym typeface="字魂59号-创粗黑" panose="00000500000000000000" pitchFamily="2" charset="-122"/>
                </a:rPr>
                <a:t>月</a:t>
              </a:r>
              <a:r>
                <a:rPr lang="en-US" altLang="zh-CN" sz="2400" b="1" kern="600" spc="600" dirty="0">
                  <a:latin typeface="微软雅黑" panose="020B0503020204020204" charset="-122"/>
                  <a:ea typeface="微软雅黑" panose="020B0503020204020204" charset="-122"/>
                  <a:cs typeface="+mn-ea"/>
                  <a:sym typeface="字魂59号-创粗黑" panose="00000500000000000000" pitchFamily="2" charset="-122"/>
                </a:rPr>
                <a:t>28</a:t>
              </a:r>
              <a:r>
                <a:rPr lang="zh-CN" altLang="en-US" sz="2400" b="1" kern="600" spc="600" dirty="0">
                  <a:latin typeface="微软雅黑" panose="020B0503020204020204" charset="-122"/>
                  <a:ea typeface="微软雅黑" panose="020B0503020204020204" charset="-122"/>
                  <a:cs typeface="+mn-ea"/>
                  <a:sym typeface="字魂59号-创粗黑" panose="00000500000000000000" pitchFamily="2" charset="-122"/>
                </a:rPr>
                <a:t>日</a:t>
              </a:r>
              <a:endParaRPr lang="en-US" altLang="zh-CN" sz="2400" b="1" kern="600" spc="600" dirty="0">
                <a:latin typeface="微软雅黑" panose="020B0503020204020204" charset="-122"/>
                <a:ea typeface="微软雅黑" panose="020B0503020204020204" charset="-122"/>
                <a:cs typeface="+mn-ea"/>
                <a:sym typeface="字魂59号-创粗黑" panose="00000500000000000000" pitchFamily="2" charset="-122"/>
              </a:endParaRPr>
            </a:p>
            <a:p>
              <a:pPr algn="ctr"/>
              <a:endParaRPr lang="zh-CN" altLang="en-US" sz="3600" b="1" kern="600" spc="600" dirty="0">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11" name="文本框 10"/>
            <p:cNvSpPr txBox="1"/>
            <p:nvPr/>
          </p:nvSpPr>
          <p:spPr>
            <a:xfrm>
              <a:off x="7377855" y="3999833"/>
              <a:ext cx="4814144" cy="261769"/>
            </a:xfrm>
            <a:prstGeom prst="rect">
              <a:avLst/>
            </a:prstGeom>
            <a:noFill/>
          </p:spPr>
          <p:txBody>
            <a:bodyPr wrap="square" rtlCol="0">
              <a:spAutoFit/>
            </a:bodyPr>
            <a:lstStyle/>
            <a:p>
              <a:pPr algn="r">
                <a:lnSpc>
                  <a:spcPct val="150000"/>
                </a:lnSpc>
              </a:pPr>
              <a:endParaRPr lang="zh-CN" altLang="en-US" sz="1400" dirty="0">
                <a:solidFill>
                  <a:schemeClr val="bg1"/>
                </a:solidFill>
                <a:latin typeface="方正黑体简体" panose="03000509000000000000" pitchFamily="65" charset="-122"/>
                <a:ea typeface="方正黑体简体" panose="03000509000000000000" pitchFamily="65" charset="-122"/>
              </a:endParaRPr>
            </a:p>
          </p:txBody>
        </p:sp>
      </p:grpSp>
      <p:pic>
        <p:nvPicPr>
          <p:cNvPr id="13" name="Picture 10"/>
          <p:cNvPicPr>
            <a:picLocks noChangeAspect="1"/>
          </p:cNvPicPr>
          <p:nvPr/>
        </p:nvPicPr>
        <p:blipFill rotWithShape="1">
          <a:blip r:embed="rId3"/>
          <a:srcRect l="8223" t="13501" r="8923" b="12656"/>
          <a:stretch>
            <a:fillRect/>
          </a:stretch>
        </p:blipFill>
        <p:spPr>
          <a:xfrm>
            <a:off x="6614910" y="1008491"/>
            <a:ext cx="4564380" cy="15862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90805"/>
            <a:ext cx="7879080" cy="707886"/>
          </a:xfrm>
          <a:prstGeom prst="rect">
            <a:avLst/>
          </a:prstGeom>
          <a:noFill/>
          <a:ln>
            <a:noFill/>
          </a:ln>
        </p:spPr>
        <p:txBody>
          <a:bodyPr wrap="none" rtlCol="0" anchor="t">
            <a:spAutoFit/>
          </a:bodyPr>
          <a:lstStyle/>
          <a:p>
            <a:pPr algn="l">
              <a:defRPr/>
            </a:pPr>
            <a:r>
              <a:rPr lang="zh-CN" altLang="en-US" sz="4000" b="1" dirty="0">
                <a:solidFill>
                  <a:srgbClr val="0B479C"/>
                </a:solidFill>
                <a:latin typeface="微软雅黑" panose="020B0503020204020204" charset="-122"/>
                <a:ea typeface="微软雅黑" panose="020B0503020204020204" charset="-122"/>
              </a:rPr>
              <a:t>多管理域网络的配置错误非常普遍</a:t>
            </a:r>
            <a:endParaRPr lang="zh-CN" altLang="en-US" sz="4000" b="1" dirty="0">
              <a:solidFill>
                <a:srgbClr val="0B479C"/>
              </a:solidFill>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422" y="1446889"/>
            <a:ext cx="7392432" cy="119186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内容占位符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3690" y="4377687"/>
            <a:ext cx="6057368" cy="1665058"/>
          </a:xfrm>
          <a:prstGeom prst="rect">
            <a:avLst/>
          </a:prstGeom>
        </p:spPr>
      </p:pic>
      <p:grpSp>
        <p:nvGrpSpPr>
          <p:cNvPr id="10" name="Group 20"/>
          <p:cNvGrpSpPr/>
          <p:nvPr/>
        </p:nvGrpSpPr>
        <p:grpSpPr>
          <a:xfrm>
            <a:off x="8295771" y="1360948"/>
            <a:ext cx="3527059" cy="3746531"/>
            <a:chOff x="7507705" y="1913020"/>
            <a:chExt cx="2953912" cy="3137720"/>
          </a:xfrm>
        </p:grpSpPr>
        <p:sp>
          <p:nvSpPr>
            <p:cNvPr id="11" name="Rectangle 19"/>
            <p:cNvSpPr/>
            <p:nvPr/>
          </p:nvSpPr>
          <p:spPr>
            <a:xfrm>
              <a:off x="7507705" y="1913020"/>
              <a:ext cx="2953912" cy="313772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grpSp>
          <p:nvGrpSpPr>
            <p:cNvPr id="14" name="Group 18"/>
            <p:cNvGrpSpPr/>
            <p:nvPr/>
          </p:nvGrpSpPr>
          <p:grpSpPr>
            <a:xfrm>
              <a:off x="7517782" y="1923097"/>
              <a:ext cx="2933758" cy="3117566"/>
              <a:chOff x="7517782" y="1923097"/>
              <a:chExt cx="2933758" cy="3117566"/>
            </a:xfrm>
          </p:grpSpPr>
          <p:pic>
            <p:nvPicPr>
              <p:cNvPr id="21"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7782" y="1923097"/>
                <a:ext cx="2933758" cy="2261937"/>
              </a:xfrm>
              <a:prstGeom prst="rect">
                <a:avLst/>
              </a:prstGeom>
            </p:spPr>
          </p:pic>
          <p:pic>
            <p:nvPicPr>
              <p:cNvPr id="23" name="Picture 17"/>
              <p:cNvPicPr>
                <a:picLocks noChangeAspect="1"/>
              </p:cNvPicPr>
              <p:nvPr/>
            </p:nvPicPr>
            <p:blipFill rotWithShape="1">
              <a:blip r:embed="rId6">
                <a:extLst>
                  <a:ext uri="{28A0092B-C50C-407E-A947-70E740481C1C}">
                    <a14:useLocalDpi xmlns:a14="http://schemas.microsoft.com/office/drawing/2010/main" val="0"/>
                  </a:ext>
                </a:extLst>
              </a:blip>
              <a:srcRect l="341" r="341"/>
              <a:stretch>
                <a:fillRect/>
              </a:stretch>
            </p:blipFill>
            <p:spPr>
              <a:xfrm>
                <a:off x="7517782" y="4164880"/>
                <a:ext cx="2933758" cy="875783"/>
              </a:xfrm>
              <a:prstGeom prst="rect">
                <a:avLst/>
              </a:prstGeom>
            </p:spPr>
          </p:pic>
        </p:grpSp>
      </p:grpSp>
      <p:pic>
        <p:nvPicPr>
          <p:cNvPr id="8" name="图片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4680" y="2427944"/>
            <a:ext cx="6310888" cy="2025136"/>
          </a:xfrm>
          <a:prstGeom prst="rect">
            <a:avLst/>
          </a:prstGeom>
        </p:spPr>
      </p:pic>
      <p:sp>
        <p:nvSpPr>
          <p:cNvPr id="12" name="灯片编号占位符 11"/>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90805"/>
            <a:ext cx="7005444" cy="707886"/>
          </a:xfrm>
          <a:prstGeom prst="rect">
            <a:avLst/>
          </a:prstGeom>
          <a:noFill/>
        </p:spPr>
        <p:txBody>
          <a:bodyPr wrap="none" rtlCol="0" anchor="t">
            <a:spAutoFit/>
          </a:bodyPr>
          <a:lstStyle/>
          <a:p>
            <a:pPr algn="l">
              <a:defRPr/>
            </a:pP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网络验证：防配置错误于未然</a:t>
            </a:r>
            <a:endParaRPr lang="zh-CN" altLang="en-US" sz="4000" b="1" dirty="0">
              <a:solidFill>
                <a:schemeClr val="accent5">
                  <a:lumMod val="75000"/>
                </a:schemeClr>
              </a:solidFill>
              <a:latin typeface="微软雅黑" panose="020B0503020204020204" charset="-122"/>
              <a:ea typeface="微软雅黑" panose="020B0503020204020204" charset="-122"/>
            </a:endParaRPr>
          </a:p>
        </p:txBody>
      </p:sp>
      <p:pic>
        <p:nvPicPr>
          <p:cNvPr id="20" name="图片 19"/>
          <p:cNvPicPr>
            <a:picLocks noChangeAspect="1"/>
          </p:cNvPicPr>
          <p:nvPr/>
        </p:nvPicPr>
        <p:blipFill>
          <a:blip r:embed="rId3"/>
          <a:srcRect t="1129" r="-631"/>
          <a:stretch>
            <a:fillRect/>
          </a:stretch>
        </p:blipFill>
        <p:spPr>
          <a:xfrm>
            <a:off x="96520" y="1819275"/>
            <a:ext cx="2893695" cy="1588770"/>
          </a:xfrm>
          <a:prstGeom prst="rect">
            <a:avLst/>
          </a:prstGeom>
          <a:effectLst>
            <a:softEdge rad="25400"/>
          </a:effectLst>
        </p:spPr>
      </p:pic>
      <p:pic>
        <p:nvPicPr>
          <p:cNvPr id="15" name="图片 14"/>
          <p:cNvPicPr>
            <a:picLocks noChangeAspect="1"/>
          </p:cNvPicPr>
          <p:nvPr/>
        </p:nvPicPr>
        <p:blipFill>
          <a:blip r:embed="rId4"/>
          <a:stretch>
            <a:fillRect/>
          </a:stretch>
        </p:blipFill>
        <p:spPr>
          <a:xfrm>
            <a:off x="3087370" y="1799590"/>
            <a:ext cx="1776730" cy="1627505"/>
          </a:xfrm>
          <a:prstGeom prst="rect">
            <a:avLst/>
          </a:prstGeom>
          <a:effectLst>
            <a:softEdge rad="63500"/>
          </a:effectLst>
        </p:spPr>
      </p:pic>
      <p:pic>
        <p:nvPicPr>
          <p:cNvPr id="12" name="图片 11"/>
          <p:cNvPicPr>
            <a:picLocks noChangeAspect="1"/>
          </p:cNvPicPr>
          <p:nvPr/>
        </p:nvPicPr>
        <p:blipFill>
          <a:blip r:embed="rId5"/>
          <a:stretch>
            <a:fillRect/>
          </a:stretch>
        </p:blipFill>
        <p:spPr>
          <a:xfrm>
            <a:off x="5303513" y="1877442"/>
            <a:ext cx="3267075" cy="1472565"/>
          </a:xfrm>
          <a:prstGeom prst="rect">
            <a:avLst/>
          </a:prstGeom>
          <a:effectLst>
            <a:softEdge rad="63500"/>
          </a:effectLst>
        </p:spPr>
      </p:pic>
      <p:pic>
        <p:nvPicPr>
          <p:cNvPr id="3" name="图片 2"/>
          <p:cNvPicPr>
            <a:picLocks noChangeAspect="1"/>
          </p:cNvPicPr>
          <p:nvPr/>
        </p:nvPicPr>
        <p:blipFill>
          <a:blip r:embed="rId6"/>
          <a:stretch>
            <a:fillRect/>
          </a:stretch>
        </p:blipFill>
        <p:spPr>
          <a:xfrm>
            <a:off x="8741410" y="1819275"/>
            <a:ext cx="3286760" cy="1477645"/>
          </a:xfrm>
          <a:prstGeom prst="rect">
            <a:avLst/>
          </a:prstGeom>
          <a:effectLst>
            <a:softEdge rad="38100"/>
          </a:effectLst>
        </p:spPr>
      </p:pic>
      <p:sp>
        <p:nvSpPr>
          <p:cNvPr id="22" name="文本框 21"/>
          <p:cNvSpPr txBox="1"/>
          <p:nvPr/>
        </p:nvSpPr>
        <p:spPr>
          <a:xfrm>
            <a:off x="412750" y="3982085"/>
            <a:ext cx="2339975" cy="337185"/>
          </a:xfrm>
          <a:prstGeom prst="rect">
            <a:avLst/>
          </a:prstGeom>
          <a:noFill/>
        </p:spPr>
        <p:txBody>
          <a:bodyPr wrap="square" rtlCol="0">
            <a:spAutoFit/>
          </a:bodyPr>
          <a:lstStyle/>
          <a:p>
            <a:r>
              <a:rPr lang="en-US" altLang="zh-CN" sz="1600"/>
              <a:t>ARC (SIGCOMM'16)</a:t>
            </a:r>
            <a:endParaRPr lang="en-US" altLang="zh-CN" sz="1600"/>
          </a:p>
        </p:txBody>
      </p:sp>
      <p:sp>
        <p:nvSpPr>
          <p:cNvPr id="16" name="文本框 15"/>
          <p:cNvSpPr txBox="1"/>
          <p:nvPr/>
        </p:nvSpPr>
        <p:spPr>
          <a:xfrm>
            <a:off x="2851785" y="3982016"/>
            <a:ext cx="3122930" cy="337185"/>
          </a:xfrm>
          <a:prstGeom prst="rect">
            <a:avLst/>
          </a:prstGeom>
          <a:noFill/>
        </p:spPr>
        <p:txBody>
          <a:bodyPr wrap="square" rtlCol="0">
            <a:spAutoFit/>
          </a:bodyPr>
          <a:lstStyle/>
          <a:p>
            <a:r>
              <a:rPr lang="en-US" altLang="zh-CN" sz="1600">
                <a:cs typeface="+mn-lt"/>
              </a:rPr>
              <a:t>Minesweeper (SIGCOMM'17)</a:t>
            </a:r>
            <a:endParaRPr lang="en-US" altLang="zh-CN" sz="1600">
              <a:cs typeface="+mn-lt"/>
            </a:endParaRPr>
          </a:p>
        </p:txBody>
      </p:sp>
      <p:sp>
        <p:nvSpPr>
          <p:cNvPr id="13" name="文本框 12"/>
          <p:cNvSpPr txBox="1"/>
          <p:nvPr/>
        </p:nvSpPr>
        <p:spPr>
          <a:xfrm>
            <a:off x="6139180" y="3981768"/>
            <a:ext cx="2176780" cy="337185"/>
          </a:xfrm>
          <a:prstGeom prst="rect">
            <a:avLst/>
          </a:prstGeom>
          <a:noFill/>
        </p:spPr>
        <p:txBody>
          <a:bodyPr wrap="square" rtlCol="0">
            <a:spAutoFit/>
          </a:bodyPr>
          <a:lstStyle/>
          <a:p>
            <a:r>
              <a:rPr lang="en-US" altLang="zh-CN" sz="1600">
                <a:cs typeface="+mn-lt"/>
              </a:rPr>
              <a:t>Tiramisu (NSDI'20)</a:t>
            </a:r>
            <a:endParaRPr lang="en-US" altLang="zh-CN" sz="1600">
              <a:cs typeface="+mn-lt"/>
            </a:endParaRPr>
          </a:p>
        </p:txBody>
      </p:sp>
      <p:sp>
        <p:nvSpPr>
          <p:cNvPr id="19" name="文本框 18"/>
          <p:cNvSpPr txBox="1"/>
          <p:nvPr/>
        </p:nvSpPr>
        <p:spPr>
          <a:xfrm>
            <a:off x="9155430" y="3982085"/>
            <a:ext cx="2667000" cy="337185"/>
          </a:xfrm>
          <a:prstGeom prst="rect">
            <a:avLst/>
          </a:prstGeom>
          <a:noFill/>
        </p:spPr>
        <p:txBody>
          <a:bodyPr wrap="square" rtlCol="0">
            <a:spAutoFit/>
          </a:bodyPr>
          <a:lstStyle/>
          <a:p>
            <a:r>
              <a:rPr lang="en-US" altLang="zh-CN" sz="1600"/>
              <a:t>Hoyan (SIGCOMM'20)</a:t>
            </a:r>
            <a:endParaRPr lang="en-US" altLang="zh-CN" sz="1600"/>
          </a:p>
        </p:txBody>
      </p:sp>
      <p:sp>
        <p:nvSpPr>
          <p:cNvPr id="7" name="文本框 6"/>
          <p:cNvSpPr txBox="1"/>
          <p:nvPr/>
        </p:nvSpPr>
        <p:spPr>
          <a:xfrm>
            <a:off x="702310" y="5173980"/>
            <a:ext cx="10521950" cy="645160"/>
          </a:xfrm>
          <a:prstGeom prst="rect">
            <a:avLst/>
          </a:prstGeom>
          <a:noFill/>
        </p:spPr>
        <p:txBody>
          <a:bodyPr wrap="square" rtlCol="0">
            <a:spAutoFit/>
          </a:bodyPr>
          <a:lstStyle/>
          <a:p>
            <a:pPr algn="ctr"/>
            <a:r>
              <a:rPr lang="zh-CN" altLang="en-US" sz="3600" b="1" dirty="0"/>
              <a:t>然而，现有的网络验证工具工作在</a:t>
            </a:r>
            <a:r>
              <a:rPr lang="zh-CN" altLang="en-US" sz="3600" b="1" dirty="0">
                <a:solidFill>
                  <a:srgbClr val="FF0000"/>
                </a:solidFill>
              </a:rPr>
              <a:t>单管理域</a:t>
            </a:r>
            <a:r>
              <a:rPr lang="zh-CN" altLang="en-US" sz="3600" b="1" dirty="0"/>
              <a:t>设定下。</a:t>
            </a:r>
            <a:endParaRPr lang="en-US" altLang="zh-CN" sz="3600" b="1" dirty="0">
              <a:solidFill>
                <a:srgbClr val="FF0000"/>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90805"/>
            <a:ext cx="6340197" cy="707886"/>
          </a:xfrm>
          <a:prstGeom prst="rect">
            <a:avLst/>
          </a:prstGeom>
          <a:noFill/>
        </p:spPr>
        <p:txBody>
          <a:bodyPr wrap="none" rtlCol="0" anchor="t">
            <a:spAutoFit/>
          </a:bodyPr>
          <a:lstStyle/>
          <a:p>
            <a:pPr algn="l">
              <a:defRPr/>
            </a:pP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多管理域网络配置验证案例</a:t>
            </a:r>
            <a:endParaRPr lang="zh-CN" altLang="en-US" sz="4000" b="1" dirty="0">
              <a:solidFill>
                <a:schemeClr val="accent5">
                  <a:lumMod val="75000"/>
                </a:schemeClr>
              </a:solidFill>
              <a:latin typeface="微软雅黑" panose="020B0503020204020204" charset="-122"/>
              <a:ea typeface="微软雅黑" panose="020B0503020204020204" charset="-122"/>
            </a:endParaRPr>
          </a:p>
        </p:txBody>
      </p:sp>
      <p:sp>
        <p:nvSpPr>
          <p:cNvPr id="115" name="文本框 114"/>
          <p:cNvSpPr txBox="1"/>
          <p:nvPr/>
        </p:nvSpPr>
        <p:spPr>
          <a:xfrm>
            <a:off x="417195" y="977800"/>
            <a:ext cx="11722100" cy="645160"/>
          </a:xfrm>
          <a:prstGeom prst="rect">
            <a:avLst/>
          </a:prstGeom>
          <a:noFill/>
        </p:spPr>
        <p:txBody>
          <a:bodyPr wrap="square" rtlCol="0" anchor="t">
            <a:spAutoFit/>
          </a:bodyPr>
          <a:lstStyle/>
          <a:p>
            <a:pPr algn="l">
              <a:buClrTx/>
              <a:buSzTx/>
              <a:buFontTx/>
            </a:pPr>
            <a:r>
              <a:rPr lang="en-US" altLang="zh-CN" sz="3200" b="1" dirty="0">
                <a:latin typeface="+mn-ea"/>
                <a:cs typeface="+mn-ea"/>
              </a:rPr>
              <a:t> </a:t>
            </a:r>
            <a:r>
              <a:rPr lang="zh-CN" altLang="en-US" sz="3200" dirty="0">
                <a:latin typeface="微软雅黑" panose="020B0503020204020204" charset="-122"/>
                <a:ea typeface="微软雅黑" panose="020B0503020204020204" charset="-122"/>
                <a:cs typeface="+mn-ea"/>
              </a:rPr>
              <a:t>在现实中</a:t>
            </a:r>
            <a:r>
              <a:rPr lang="en-US" altLang="zh-CN" sz="3200" dirty="0">
                <a:latin typeface="微软雅黑" panose="020B0503020204020204" charset="-122"/>
                <a:ea typeface="微软雅黑" panose="020B0503020204020204" charset="-122"/>
                <a:cs typeface="+mn-ea"/>
              </a:rPr>
              <a:t>, AS S </a:t>
            </a:r>
            <a:r>
              <a:rPr lang="zh-CN" altLang="en-US" sz="3200" dirty="0">
                <a:latin typeface="微软雅黑" panose="020B0503020204020204" charset="-122"/>
                <a:ea typeface="微软雅黑" panose="020B0503020204020204" charset="-122"/>
                <a:cs typeface="+mn-ea"/>
              </a:rPr>
              <a:t>仅当部署配置后才会发现无法到达网络</a:t>
            </a:r>
            <a:r>
              <a:rPr lang="en-US" altLang="zh-CN" sz="3200" dirty="0">
                <a:latin typeface="微软雅黑" panose="020B0503020204020204" charset="-122"/>
                <a:ea typeface="微软雅黑" panose="020B0503020204020204" charset="-122"/>
                <a:cs typeface="+mn-ea"/>
              </a:rPr>
              <a:t>P</a:t>
            </a:r>
            <a:r>
              <a:rPr lang="zh-CN" altLang="en-US" sz="3200" dirty="0">
                <a:latin typeface="微软雅黑" panose="020B0503020204020204" charset="-122"/>
                <a:ea typeface="微软雅黑" panose="020B0503020204020204" charset="-122"/>
                <a:cs typeface="+mn-ea"/>
              </a:rPr>
              <a:t>。</a:t>
            </a:r>
            <a:r>
              <a:rPr lang="en-US" altLang="zh-CN" sz="3600" dirty="0">
                <a:latin typeface="微软雅黑" panose="020B0503020204020204" charset="-122"/>
                <a:ea typeface="微软雅黑" panose="020B0503020204020204" charset="-122"/>
                <a:cs typeface="+mn-ea"/>
              </a:rPr>
              <a:t> </a:t>
            </a:r>
            <a:endParaRPr lang="en-US" altLang="zh-CN" sz="3600" dirty="0">
              <a:latin typeface="微软雅黑" panose="020B0503020204020204" charset="-122"/>
              <a:ea typeface="微软雅黑" panose="020B0503020204020204" charset="-122"/>
              <a:cs typeface="+mn-ea"/>
            </a:endParaRPr>
          </a:p>
        </p:txBody>
      </p:sp>
      <p:sp>
        <p:nvSpPr>
          <p:cNvPr id="118" name="文本框 117"/>
          <p:cNvSpPr txBox="1"/>
          <p:nvPr/>
        </p:nvSpPr>
        <p:spPr>
          <a:xfrm>
            <a:off x="1016000" y="5745480"/>
            <a:ext cx="10208260" cy="645160"/>
          </a:xfrm>
          <a:prstGeom prst="rect">
            <a:avLst/>
          </a:prstGeom>
          <a:noFill/>
        </p:spPr>
        <p:txBody>
          <a:bodyPr wrap="square" rtlCol="0">
            <a:spAutoFit/>
          </a:bodyPr>
          <a:lstStyle/>
          <a:p>
            <a:pPr algn="ctr"/>
            <a:r>
              <a:rPr lang="zh-CN" altLang="en-US" sz="3600" b="1" dirty="0">
                <a:latin typeface="微软雅黑" panose="020B0503020204020204" charset="-122"/>
                <a:ea typeface="微软雅黑" panose="020B0503020204020204" charset="-122"/>
                <a:cs typeface="宋体" panose="02010600030101010101" pitchFamily="2" charset="-122"/>
              </a:rPr>
              <a:t>主要挑战</a:t>
            </a:r>
            <a:r>
              <a:rPr lang="en-US" altLang="zh-CN" sz="3600" dirty="0">
                <a:latin typeface="微软雅黑" panose="020B0503020204020204" charset="-122"/>
                <a:ea typeface="微软雅黑" panose="020B0503020204020204" charset="-122"/>
                <a:cs typeface="宋体" panose="02010600030101010101" pitchFamily="2" charset="-122"/>
              </a:rPr>
              <a:t>: </a:t>
            </a:r>
            <a:r>
              <a:rPr lang="zh-CN" altLang="en-US" sz="3600" dirty="0">
                <a:latin typeface="微软雅黑" panose="020B0503020204020204" charset="-122"/>
                <a:ea typeface="微软雅黑" panose="020B0503020204020204" charset="-122"/>
                <a:cs typeface="宋体" panose="02010600030101010101" pitchFamily="2" charset="-122"/>
              </a:rPr>
              <a:t>所有</a:t>
            </a:r>
            <a:r>
              <a:rPr lang="en-US" altLang="zh-CN" sz="3600" dirty="0">
                <a:latin typeface="微软雅黑" panose="020B0503020204020204" charset="-122"/>
                <a:ea typeface="微软雅黑" panose="020B0503020204020204" charset="-122"/>
                <a:cs typeface="宋体" panose="02010600030101010101" pitchFamily="2" charset="-122"/>
              </a:rPr>
              <a:t> AS </a:t>
            </a:r>
            <a:r>
              <a:rPr lang="zh-CN" altLang="en-US" sz="3600" dirty="0">
                <a:latin typeface="微软雅黑" panose="020B0503020204020204" charset="-122"/>
                <a:ea typeface="微软雅黑" panose="020B0503020204020204" charset="-122"/>
                <a:cs typeface="宋体" panose="02010600030101010101" pitchFamily="2" charset="-122"/>
              </a:rPr>
              <a:t>将配置文件视为</a:t>
            </a:r>
            <a:r>
              <a:rPr lang="zh-CN" altLang="en-US" sz="3600" b="1" dirty="0">
                <a:solidFill>
                  <a:srgbClr val="FF0000"/>
                </a:solidFill>
                <a:latin typeface="微软雅黑" panose="020B0503020204020204" charset="-122"/>
                <a:ea typeface="微软雅黑" panose="020B0503020204020204" charset="-122"/>
                <a:cs typeface="宋体" panose="02010600030101010101" pitchFamily="2" charset="-122"/>
              </a:rPr>
              <a:t>隐私信息。</a:t>
            </a:r>
            <a:endParaRPr lang="en-US" altLang="zh-CN" sz="3600" b="1" dirty="0">
              <a:solidFill>
                <a:srgbClr val="FF0000"/>
              </a:solidFill>
              <a:latin typeface="微软雅黑" panose="020B0503020204020204" charset="-122"/>
              <a:ea typeface="微软雅黑" panose="020B0503020204020204" charset="-122"/>
              <a:cs typeface="宋体" panose="02010600030101010101" pitchFamily="2" charset="-122"/>
            </a:endParaRPr>
          </a:p>
        </p:txBody>
      </p:sp>
      <p:pic>
        <p:nvPicPr>
          <p:cNvPr id="3" name="图片 2"/>
          <p:cNvPicPr>
            <a:picLocks noChangeAspect="1"/>
          </p:cNvPicPr>
          <p:nvPr/>
        </p:nvPicPr>
        <p:blipFill>
          <a:blip r:embed="rId3"/>
          <a:stretch>
            <a:fillRect/>
          </a:stretch>
        </p:blipFill>
        <p:spPr>
          <a:xfrm>
            <a:off x="1458684" y="1920355"/>
            <a:ext cx="8730343" cy="3527729"/>
          </a:xfrm>
          <a:prstGeom prst="rect">
            <a:avLst/>
          </a:prstGeom>
        </p:spPr>
      </p:pic>
      <p:sp>
        <p:nvSpPr>
          <p:cNvPr id="8" name="灯片编号占位符 7"/>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18"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90805"/>
            <a:ext cx="9417963" cy="707886"/>
          </a:xfrm>
          <a:prstGeom prst="rect">
            <a:avLst/>
          </a:prstGeom>
          <a:noFill/>
        </p:spPr>
        <p:txBody>
          <a:bodyPr wrap="none" rtlCol="0" anchor="t">
            <a:spAutoFit/>
          </a:bodyPr>
          <a:lstStyle/>
          <a:p>
            <a:pPr algn="l">
              <a:defRPr/>
            </a:pP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解决方案：隐私保护的多管理域配置验证</a:t>
            </a:r>
            <a:endParaRPr lang="zh-CN" altLang="en-US" sz="4000" b="1" dirty="0">
              <a:solidFill>
                <a:schemeClr val="accent5">
                  <a:lumMod val="75000"/>
                </a:schemeClr>
              </a:solidFill>
              <a:latin typeface="微软雅黑" panose="020B0503020204020204" charset="-122"/>
              <a:ea typeface="微软雅黑" panose="020B0503020204020204" charset="-122"/>
            </a:endParaRPr>
          </a:p>
        </p:txBody>
      </p:sp>
      <p:sp>
        <p:nvSpPr>
          <p:cNvPr id="15" name="文本框 14"/>
          <p:cNvSpPr txBox="1"/>
          <p:nvPr/>
        </p:nvSpPr>
        <p:spPr>
          <a:xfrm>
            <a:off x="410845" y="1264285"/>
            <a:ext cx="10835005" cy="1384995"/>
          </a:xfrm>
          <a:prstGeom prst="rect">
            <a:avLst/>
          </a:prstGeom>
          <a:noFill/>
        </p:spPr>
        <p:txBody>
          <a:bodyPr wrap="square" rtlCol="0">
            <a:spAutoFit/>
          </a:bodyPr>
          <a:lstStyle/>
          <a:p>
            <a:r>
              <a:rPr lang="zh-CN" altLang="en-US" sz="2800" dirty="0">
                <a:latin typeface="微软雅黑" panose="020B0503020204020204" charset="-122"/>
                <a:ea typeface="微软雅黑" panose="020B0503020204020204" charset="-122"/>
                <a:cs typeface="+mn-ea"/>
              </a:rPr>
              <a:t>多管理域网络配置验证框架</a:t>
            </a:r>
            <a:r>
              <a:rPr lang="en-US" altLang="zh-CN" sz="2800" dirty="0">
                <a:latin typeface="微软雅黑" panose="020B0503020204020204" charset="-122"/>
                <a:ea typeface="微软雅黑" panose="020B0503020204020204" charset="-122"/>
                <a:cs typeface="+mn-ea"/>
              </a:rPr>
              <a:t>IVeri</a:t>
            </a:r>
            <a:r>
              <a:rPr lang="zh-CN" altLang="en-US" sz="2800" dirty="0">
                <a:latin typeface="微软雅黑" panose="020B0503020204020204" charset="-122"/>
                <a:ea typeface="微软雅黑" panose="020B0503020204020204" charset="-122"/>
                <a:cs typeface="+mn-ea"/>
              </a:rPr>
              <a:t>采用</a:t>
            </a:r>
            <a:r>
              <a:rPr lang="zh-CN" altLang="en-US" sz="2800" b="1" dirty="0">
                <a:latin typeface="微软雅黑" panose="020B0503020204020204" charset="-122"/>
                <a:ea typeface="微软雅黑" panose="020B0503020204020204" charset="-122"/>
                <a:cs typeface="+mn-ea"/>
              </a:rPr>
              <a:t>安全多方计算技术</a:t>
            </a:r>
            <a:r>
              <a:rPr lang="en-US" altLang="zh-CN" sz="2800" b="1" dirty="0">
                <a:latin typeface="微软雅黑" panose="020B0503020204020204" charset="-122"/>
                <a:ea typeface="微软雅黑" panose="020B0503020204020204" charset="-122"/>
                <a:cs typeface="+mn-ea"/>
              </a:rPr>
              <a:t>(SMPC)</a:t>
            </a:r>
            <a:r>
              <a:rPr lang="zh-CN" altLang="en-US" sz="2800" b="1" dirty="0">
                <a:latin typeface="微软雅黑" panose="020B0503020204020204" charset="-122"/>
                <a:ea typeface="微软雅黑" panose="020B0503020204020204" charset="-122"/>
                <a:cs typeface="+mn-ea"/>
              </a:rPr>
              <a:t>，</a:t>
            </a:r>
            <a:r>
              <a:rPr lang="zh-CN" altLang="en-US" sz="2800" dirty="0">
                <a:latin typeface="微软雅黑" panose="020B0503020204020204" charset="-122"/>
                <a:ea typeface="微软雅黑" panose="020B0503020204020204" charset="-122"/>
                <a:cs typeface="+mn-ea"/>
              </a:rPr>
              <a:t>使得多个参与方能够在保证配置信息保密的情况下进行网络不变量的验证</a:t>
            </a:r>
            <a:r>
              <a:rPr lang="zh-CN" altLang="en-US"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p:txBody>
      </p:sp>
      <p:grpSp>
        <p:nvGrpSpPr>
          <p:cNvPr id="3" name="组合 2"/>
          <p:cNvGrpSpPr/>
          <p:nvPr/>
        </p:nvGrpSpPr>
        <p:grpSpPr>
          <a:xfrm>
            <a:off x="5350751" y="2684145"/>
            <a:ext cx="5371248" cy="3356121"/>
            <a:chOff x="1207775" y="2505075"/>
            <a:chExt cx="7490983" cy="5454595"/>
          </a:xfrm>
        </p:grpSpPr>
        <p:sp>
          <p:nvSpPr>
            <p:cNvPr id="10" name="流程图: 终止 9"/>
            <p:cNvSpPr/>
            <p:nvPr/>
          </p:nvSpPr>
          <p:spPr>
            <a:xfrm>
              <a:off x="3147695" y="2505075"/>
              <a:ext cx="5363845" cy="927735"/>
            </a:xfrm>
            <a:prstGeom prst="flowChartTerminator">
              <a:avLst/>
            </a:prstGeom>
            <a:solidFill>
              <a:srgbClr val="6C8A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charset="-122"/>
                  <a:ea typeface="微软雅黑" panose="020B0503020204020204" charset="-122"/>
                </a:rPr>
                <a:t>安全多方计算技术</a:t>
              </a:r>
              <a:endParaRPr lang="en-US" altLang="zh-CN" sz="2800" dirty="0">
                <a:latin typeface="微软雅黑" panose="020B0503020204020204" charset="-122"/>
                <a:ea typeface="微软雅黑" panose="020B0503020204020204" charset="-122"/>
                <a:cs typeface="+mn-lt"/>
              </a:endParaRPr>
            </a:p>
          </p:txBody>
        </p:sp>
        <p:sp>
          <p:nvSpPr>
            <p:cNvPr id="28" name="右箭头 27"/>
            <p:cNvSpPr/>
            <p:nvPr/>
          </p:nvSpPr>
          <p:spPr>
            <a:xfrm rot="18989812">
              <a:off x="1207775" y="4331372"/>
              <a:ext cx="2757581" cy="531237"/>
            </a:xfrm>
            <a:prstGeom prst="rightArrow">
              <a:avLst/>
            </a:prstGeom>
            <a:solidFill>
              <a:srgbClr val="6C8AC9"/>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右箭头 31"/>
            <p:cNvSpPr/>
            <p:nvPr/>
          </p:nvSpPr>
          <p:spPr>
            <a:xfrm rot="17606683">
              <a:off x="2741750" y="4484642"/>
              <a:ext cx="2560382" cy="400969"/>
            </a:xfrm>
            <a:prstGeom prst="rightArrow">
              <a:avLst/>
            </a:prstGeom>
            <a:solidFill>
              <a:srgbClr val="6C8AC9"/>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539382" y="7437701"/>
              <a:ext cx="5159376" cy="521969"/>
            </a:xfrm>
            <a:prstGeom prst="rect">
              <a:avLst/>
            </a:prstGeom>
            <a:noFill/>
          </p:spPr>
          <p:txBody>
            <a:bodyPr wrap="square" rtlCol="0">
              <a:spAutoFit/>
            </a:bodyPr>
            <a:lstStyle/>
            <a:p>
              <a:r>
                <a:rPr lang="zh-CN" altLang="en-US" sz="2800" b="1" dirty="0">
                  <a:solidFill>
                    <a:srgbClr val="FF0000"/>
                  </a:solidFill>
                  <a:latin typeface="微软雅黑" panose="020B0503020204020204" charset="-122"/>
                  <a:ea typeface="微软雅黑" panose="020B0503020204020204" charset="-122"/>
                </a:rPr>
                <a:t>隐私的配置信息</a:t>
              </a:r>
              <a:endParaRPr lang="en-US" altLang="zh-CN" sz="2800" b="1" dirty="0">
                <a:solidFill>
                  <a:srgbClr val="FF0000"/>
                </a:solidFill>
                <a:latin typeface="微软雅黑" panose="020B0503020204020204" charset="-122"/>
                <a:ea typeface="微软雅黑" panose="020B0503020204020204" charset="-122"/>
              </a:endParaRPr>
            </a:p>
          </p:txBody>
        </p:sp>
      </p:grpSp>
      <p:sp>
        <p:nvSpPr>
          <p:cNvPr id="8" name="箭头: 右 7"/>
          <p:cNvSpPr/>
          <p:nvPr/>
        </p:nvSpPr>
        <p:spPr>
          <a:xfrm>
            <a:off x="4160925" y="3784565"/>
            <a:ext cx="1100216" cy="807582"/>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B479C"/>
              </a:solidFill>
            </a:endParaRPr>
          </a:p>
        </p:txBody>
      </p:sp>
      <p:pic>
        <p:nvPicPr>
          <p:cNvPr id="11" name="图片 10"/>
          <p:cNvPicPr>
            <a:picLocks noChangeAspect="1"/>
          </p:cNvPicPr>
          <p:nvPr/>
        </p:nvPicPr>
        <p:blipFill>
          <a:blip r:embed="rId3"/>
          <a:stretch>
            <a:fillRect/>
          </a:stretch>
        </p:blipFill>
        <p:spPr>
          <a:xfrm>
            <a:off x="287915" y="2649280"/>
            <a:ext cx="4503766" cy="2944435"/>
          </a:xfrm>
          <a:prstGeom prst="rect">
            <a:avLst/>
          </a:prstGeom>
        </p:spPr>
      </p:pic>
      <p:pic>
        <p:nvPicPr>
          <p:cNvPr id="12" name="图片 11"/>
          <p:cNvPicPr>
            <a:picLocks noChangeAspect="1"/>
          </p:cNvPicPr>
          <p:nvPr/>
        </p:nvPicPr>
        <p:blipFill>
          <a:blip r:embed="rId4"/>
          <a:stretch>
            <a:fillRect/>
          </a:stretch>
        </p:blipFill>
        <p:spPr>
          <a:xfrm>
            <a:off x="5116211" y="4873189"/>
            <a:ext cx="949077" cy="531482"/>
          </a:xfrm>
          <a:prstGeom prst="rect">
            <a:avLst/>
          </a:prstGeom>
        </p:spPr>
      </p:pic>
      <p:pic>
        <p:nvPicPr>
          <p:cNvPr id="36" name="图片 35"/>
          <p:cNvPicPr>
            <a:picLocks noChangeAspect="1"/>
          </p:cNvPicPr>
          <p:nvPr/>
        </p:nvPicPr>
        <p:blipFill>
          <a:blip r:embed="rId4"/>
          <a:stretch>
            <a:fillRect/>
          </a:stretch>
        </p:blipFill>
        <p:spPr>
          <a:xfrm>
            <a:off x="6483203" y="4861813"/>
            <a:ext cx="949077" cy="531482"/>
          </a:xfrm>
          <a:prstGeom prst="rect">
            <a:avLst/>
          </a:prstGeom>
        </p:spPr>
      </p:pic>
      <p:pic>
        <p:nvPicPr>
          <p:cNvPr id="37" name="图片 36"/>
          <p:cNvPicPr>
            <a:picLocks noChangeAspect="1"/>
          </p:cNvPicPr>
          <p:nvPr/>
        </p:nvPicPr>
        <p:blipFill>
          <a:blip r:embed="rId4"/>
          <a:stretch>
            <a:fillRect/>
          </a:stretch>
        </p:blipFill>
        <p:spPr>
          <a:xfrm>
            <a:off x="7980537" y="4857944"/>
            <a:ext cx="949077" cy="531482"/>
          </a:xfrm>
          <a:prstGeom prst="rect">
            <a:avLst/>
          </a:prstGeom>
        </p:spPr>
      </p:pic>
      <p:pic>
        <p:nvPicPr>
          <p:cNvPr id="39" name="图片 38"/>
          <p:cNvPicPr>
            <a:picLocks noChangeAspect="1"/>
          </p:cNvPicPr>
          <p:nvPr/>
        </p:nvPicPr>
        <p:blipFill>
          <a:blip r:embed="rId4"/>
          <a:stretch>
            <a:fillRect/>
          </a:stretch>
        </p:blipFill>
        <p:spPr>
          <a:xfrm>
            <a:off x="9413501" y="4873189"/>
            <a:ext cx="949077" cy="531482"/>
          </a:xfrm>
          <a:prstGeom prst="rect">
            <a:avLst/>
          </a:prstGeom>
        </p:spPr>
      </p:pic>
      <p:pic>
        <p:nvPicPr>
          <p:cNvPr id="40" name="图片 39"/>
          <p:cNvPicPr>
            <a:picLocks noChangeAspect="1"/>
          </p:cNvPicPr>
          <p:nvPr/>
        </p:nvPicPr>
        <p:blipFill>
          <a:blip r:embed="rId4"/>
          <a:stretch>
            <a:fillRect/>
          </a:stretch>
        </p:blipFill>
        <p:spPr>
          <a:xfrm>
            <a:off x="10955008" y="4857944"/>
            <a:ext cx="949077" cy="531482"/>
          </a:xfrm>
          <a:prstGeom prst="rect">
            <a:avLst/>
          </a:prstGeom>
        </p:spPr>
      </p:pic>
      <p:sp>
        <p:nvSpPr>
          <p:cNvPr id="43" name="右箭头 42"/>
          <p:cNvSpPr/>
          <p:nvPr/>
        </p:nvSpPr>
        <p:spPr>
          <a:xfrm rot="16200000">
            <a:off x="7722886" y="3868299"/>
            <a:ext cx="1419993" cy="333668"/>
          </a:xfrm>
          <a:prstGeom prst="rightArrow">
            <a:avLst/>
          </a:prstGeom>
          <a:solidFill>
            <a:srgbClr val="6C8AC9"/>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箭头 45"/>
          <p:cNvSpPr/>
          <p:nvPr/>
        </p:nvSpPr>
        <p:spPr>
          <a:xfrm rot="14551656">
            <a:off x="8709670" y="3837219"/>
            <a:ext cx="1562065" cy="330302"/>
          </a:xfrm>
          <a:prstGeom prst="rightArrow">
            <a:avLst>
              <a:gd name="adj1" fmla="val 50276"/>
              <a:gd name="adj2" fmla="val 50000"/>
            </a:avLst>
          </a:prstGeom>
          <a:solidFill>
            <a:srgbClr val="6C8AC9"/>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右箭头 46"/>
          <p:cNvSpPr/>
          <p:nvPr/>
        </p:nvSpPr>
        <p:spPr>
          <a:xfrm rot="13966227">
            <a:off x="9882743" y="3811889"/>
            <a:ext cx="1922915" cy="390609"/>
          </a:xfrm>
          <a:prstGeom prst="rightArrow">
            <a:avLst>
              <a:gd name="adj1" fmla="val 41340"/>
              <a:gd name="adj2" fmla="val 50000"/>
            </a:avLst>
          </a:prstGeom>
          <a:solidFill>
            <a:srgbClr val="6C8AC9"/>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灯片编号占位符 1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3" name="文本框 2"/>
          <p:cNvSpPr txBox="1"/>
          <p:nvPr/>
        </p:nvSpPr>
        <p:spPr>
          <a:xfrm>
            <a:off x="417195" y="90805"/>
            <a:ext cx="7638630" cy="707886"/>
          </a:xfrm>
          <a:prstGeom prst="rect">
            <a:avLst/>
          </a:prstGeom>
          <a:noFill/>
        </p:spPr>
        <p:txBody>
          <a:bodyPr wrap="none" rtlCol="0" anchor="t">
            <a:spAutoFit/>
          </a:bodyPr>
          <a:lstStyle/>
          <a:p>
            <a:pPr algn="l">
              <a:defRPr/>
            </a:pP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关键技术：</a:t>
            </a:r>
            <a:r>
              <a:rPr lang="en-US" altLang="zh-CN" sz="4000" b="1" dirty="0">
                <a:solidFill>
                  <a:srgbClr val="014098"/>
                </a:solidFill>
                <a:latin typeface="微软雅黑" panose="020B0503020204020204" charset="-122"/>
                <a:ea typeface="微软雅黑" panose="020B0503020204020204" charset="-122"/>
                <a:cs typeface="Calibri" panose="020F0502020204030204" charset="0"/>
                <a:sym typeface="+mn-ea"/>
              </a:rPr>
              <a:t>Shamir</a:t>
            </a: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秘密分享方案</a:t>
            </a:r>
            <a:endParaRPr lang="zh-CN" altLang="en-US" sz="4000" b="1" dirty="0">
              <a:solidFill>
                <a:schemeClr val="accent5">
                  <a:lumMod val="75000"/>
                </a:schemeClr>
              </a:solidFill>
              <a:latin typeface="微软雅黑" panose="020B0503020204020204" charset="-122"/>
              <a:ea typeface="微软雅黑" panose="020B0503020204020204" charset="-122"/>
            </a:endParaRPr>
          </a:p>
        </p:txBody>
      </p:sp>
      <p:sp>
        <p:nvSpPr>
          <p:cNvPr id="4"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5"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pic>
        <p:nvPicPr>
          <p:cNvPr id="1026" name="Picture 2" descr="wp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1839" y="2113126"/>
            <a:ext cx="4080511" cy="2681918"/>
          </a:xfrm>
          <a:prstGeom prst="rect">
            <a:avLst/>
          </a:prstGeom>
          <a:noFill/>
          <a:ln>
            <a:noFill/>
          </a:ln>
          <a:effectLst>
            <a:softEdge rad="762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642620" y="2059166"/>
            <a:ext cx="5811520" cy="3231654"/>
          </a:xfrm>
          <a:prstGeom prst="rect">
            <a:avLst/>
          </a:prstGeom>
          <a:noFill/>
        </p:spPr>
        <p:txBody>
          <a:bodyPr wrap="square" rtlCol="0">
            <a:spAutoFit/>
          </a:bodyPr>
          <a:lstStyle/>
          <a:p>
            <a:pPr marL="342900" indent="-342900">
              <a:buFont typeface="Arial" panose="020B0604020202020204" pitchFamily="34" charset="0"/>
              <a:buChar char="•"/>
            </a:pPr>
            <a:r>
              <a:rPr lang="zh-CN" altLang="zh-CN" sz="2400" dirty="0">
                <a:latin typeface="微软雅黑" panose="020B0503020204020204" charset="-122"/>
                <a:ea typeface="微软雅黑" panose="020B0503020204020204" charset="-122"/>
              </a:rPr>
              <a:t>一个</a:t>
            </a:r>
            <a:r>
              <a:rPr lang="en-US" altLang="zh-CN" sz="2400" dirty="0">
                <a:latin typeface="微软雅黑" panose="020B0503020204020204" charset="-122"/>
                <a:ea typeface="微软雅黑" panose="020B0503020204020204" charset="-122"/>
              </a:rPr>
              <a:t>(</a:t>
            </a:r>
            <a:r>
              <a:rPr lang="en-US" altLang="zh-CN" sz="2400" dirty="0" err="1">
                <a:latin typeface="微软雅黑" panose="020B0503020204020204" charset="-122"/>
                <a:ea typeface="微软雅黑" panose="020B0503020204020204" charset="-122"/>
              </a:rPr>
              <a:t>t,n</a:t>
            </a:r>
            <a:r>
              <a:rPr lang="en-US" altLang="zh-CN" sz="2400" dirty="0">
                <a:latin typeface="微软雅黑" panose="020B0503020204020204" charset="-122"/>
                <a:ea typeface="微软雅黑" panose="020B0503020204020204" charset="-122"/>
              </a:rPr>
              <a:t>)-Shamir</a:t>
            </a:r>
            <a:r>
              <a:rPr lang="zh-CN" altLang="zh-CN" sz="2400" dirty="0">
                <a:latin typeface="微软雅黑" panose="020B0503020204020204" charset="-122"/>
                <a:ea typeface="微软雅黑" panose="020B0503020204020204" charset="-122"/>
              </a:rPr>
              <a:t>秘密共享方案</a:t>
            </a:r>
            <a:r>
              <a:rPr lang="en-US" altLang="zh-CN" sz="2400" dirty="0">
                <a:latin typeface="微软雅黑" panose="020B0503020204020204" charset="-122"/>
                <a:ea typeface="微软雅黑" panose="020B0503020204020204" charset="-122"/>
              </a:rPr>
              <a:t>[1]</a:t>
            </a:r>
            <a:r>
              <a:rPr lang="zh-CN" altLang="zh-CN" sz="2400" dirty="0">
                <a:latin typeface="微软雅黑" panose="020B0503020204020204" charset="-122"/>
                <a:ea typeface="微软雅黑" panose="020B0503020204020204" charset="-122"/>
              </a:rPr>
              <a:t>允许秘密</a:t>
            </a:r>
            <a:r>
              <a:rPr lang="en-US" altLang="zh-CN" sz="2400" dirty="0">
                <a:latin typeface="微软雅黑" panose="020B0503020204020204" charset="-122"/>
                <a:ea typeface="微软雅黑" panose="020B0503020204020204" charset="-122"/>
              </a:rPr>
              <a:t>S</a:t>
            </a:r>
            <a:r>
              <a:rPr lang="zh-CN" altLang="zh-CN" sz="2400" dirty="0">
                <a:latin typeface="微软雅黑" panose="020B0503020204020204" charset="-122"/>
                <a:ea typeface="微软雅黑" panose="020B0503020204020204" charset="-122"/>
              </a:rPr>
              <a:t>被分割并存储在</a:t>
            </a:r>
            <a:r>
              <a:rPr lang="en-US" altLang="zh-CN" sz="2400" dirty="0">
                <a:latin typeface="微软雅黑" panose="020B0503020204020204" charset="-122"/>
                <a:ea typeface="微软雅黑" panose="020B0503020204020204" charset="-122"/>
              </a:rPr>
              <a:t>n</a:t>
            </a:r>
            <a:r>
              <a:rPr lang="zh-CN" altLang="zh-CN" sz="2400" dirty="0">
                <a:latin typeface="微软雅黑" panose="020B0503020204020204" charset="-122"/>
                <a:ea typeface="微软雅黑" panose="020B0503020204020204" charset="-122"/>
              </a:rPr>
              <a:t>个参与者处，使得</a:t>
            </a:r>
            <a:r>
              <a:rPr lang="zh-CN" altLang="en-US" sz="2400" dirty="0">
                <a:latin typeface="微软雅黑" panose="020B0503020204020204" charset="-122"/>
                <a:ea typeface="微软雅黑" panose="020B0503020204020204" charset="-122"/>
              </a:rPr>
              <a:t>恶意的参与方</a:t>
            </a:r>
            <a:endParaRPr lang="en-US" altLang="zh-CN" sz="2400" dirty="0">
              <a:latin typeface="微软雅黑" panose="020B0503020204020204" charset="-122"/>
              <a:ea typeface="微软雅黑" panose="020B0503020204020204" charset="-122"/>
            </a:endParaRPr>
          </a:p>
          <a:p>
            <a:pPr marL="342900" indent="-342900">
              <a:buFont typeface="Arial" panose="020B0604020202020204" pitchFamily="34" charset="0"/>
              <a:buChar char="•"/>
            </a:pPr>
            <a:r>
              <a:rPr lang="zh-CN" altLang="zh-CN" sz="2400" dirty="0">
                <a:latin typeface="微软雅黑" panose="020B0503020204020204" charset="-122"/>
                <a:ea typeface="微软雅黑" panose="020B0503020204020204" charset="-122"/>
              </a:rPr>
              <a:t>（</a:t>
            </a:r>
            <a:r>
              <a:rPr lang="en-US" altLang="zh-CN" sz="2400" dirty="0">
                <a:latin typeface="微软雅黑" panose="020B0503020204020204" charset="-122"/>
                <a:ea typeface="微软雅黑" panose="020B0503020204020204" charset="-122"/>
              </a:rPr>
              <a:t>1</a:t>
            </a:r>
            <a:r>
              <a:rPr lang="zh-CN" altLang="zh-CN" sz="2400" dirty="0">
                <a:latin typeface="微软雅黑" panose="020B0503020204020204" charset="-122"/>
                <a:ea typeface="微软雅黑" panose="020B0503020204020204" charset="-122"/>
              </a:rPr>
              <a:t>）仅在它具有来自至少</a:t>
            </a:r>
            <a:r>
              <a:rPr lang="en-US" altLang="zh-CN" sz="2400" dirty="0">
                <a:latin typeface="微软雅黑" panose="020B0503020204020204" charset="-122"/>
                <a:ea typeface="微软雅黑" panose="020B0503020204020204" charset="-122"/>
              </a:rPr>
              <a:t>t</a:t>
            </a:r>
            <a:r>
              <a:rPr lang="zh-CN" altLang="zh-CN" sz="2400" dirty="0">
                <a:latin typeface="微软雅黑" panose="020B0503020204020204" charset="-122"/>
                <a:ea typeface="微软雅黑" panose="020B0503020204020204" charset="-122"/>
              </a:rPr>
              <a:t>个参与者的片段时才能够重建秘密</a:t>
            </a:r>
            <a:r>
              <a:rPr lang="en-US" altLang="zh-CN" sz="2400" dirty="0">
                <a:latin typeface="微软雅黑" panose="020B0503020204020204" charset="-122"/>
                <a:ea typeface="微软雅黑" panose="020B0503020204020204" charset="-122"/>
              </a:rPr>
              <a:t>S</a:t>
            </a:r>
            <a:r>
              <a:rPr lang="zh-CN"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342900" indent="-342900">
              <a:buFont typeface="Arial" panose="020B0604020202020204" pitchFamily="34" charset="0"/>
              <a:buChar char="•"/>
            </a:pPr>
            <a:r>
              <a:rPr lang="zh-CN" altLang="zh-CN" sz="2400" dirty="0">
                <a:latin typeface="微软雅黑" panose="020B0503020204020204" charset="-122"/>
                <a:ea typeface="微软雅黑" panose="020B0503020204020204" charset="-122"/>
              </a:rPr>
              <a:t>（</a:t>
            </a:r>
            <a:r>
              <a:rPr lang="en-US" altLang="zh-CN" sz="2400" dirty="0">
                <a:latin typeface="微软雅黑" panose="020B0503020204020204" charset="-122"/>
                <a:ea typeface="微软雅黑" panose="020B0503020204020204" charset="-122"/>
              </a:rPr>
              <a:t>2</a:t>
            </a:r>
            <a:r>
              <a:rPr lang="zh-CN" altLang="zh-CN" sz="2400" dirty="0">
                <a:latin typeface="微软雅黑" panose="020B0503020204020204" charset="-122"/>
                <a:ea typeface="微软雅黑" panose="020B0503020204020204" charset="-122"/>
              </a:rPr>
              <a:t>）在它有少于</a:t>
            </a:r>
            <a:r>
              <a:rPr lang="en-US" altLang="zh-CN" sz="2400" dirty="0">
                <a:latin typeface="微软雅黑" panose="020B0503020204020204" charset="-122"/>
                <a:ea typeface="微软雅黑" panose="020B0503020204020204" charset="-122"/>
              </a:rPr>
              <a:t>t</a:t>
            </a:r>
            <a:r>
              <a:rPr lang="zh-CN" altLang="zh-CN" sz="2400" dirty="0">
                <a:latin typeface="微软雅黑" panose="020B0503020204020204" charset="-122"/>
                <a:ea typeface="微软雅黑" panose="020B0503020204020204" charset="-122"/>
              </a:rPr>
              <a:t>个参与者的内容时，不能获得关于</a:t>
            </a:r>
            <a:r>
              <a:rPr lang="en-US" altLang="zh-CN" sz="2400" dirty="0">
                <a:latin typeface="微软雅黑" panose="020B0503020204020204" charset="-122"/>
                <a:ea typeface="微软雅黑" panose="020B0503020204020204" charset="-122"/>
              </a:rPr>
              <a:t>S</a:t>
            </a:r>
            <a:r>
              <a:rPr lang="zh-CN" altLang="zh-CN" sz="2400" dirty="0">
                <a:latin typeface="微软雅黑" panose="020B0503020204020204" charset="-122"/>
                <a:ea typeface="微软雅黑" panose="020B0503020204020204" charset="-122"/>
              </a:rPr>
              <a:t>的任何信息。</a:t>
            </a:r>
            <a:endParaRPr lang="en-US" altLang="zh-CN" sz="2400" dirty="0">
              <a:latin typeface="微软雅黑" panose="020B0503020204020204" charset="-122"/>
              <a:ea typeface="微软雅黑" panose="020B0503020204020204" charset="-122"/>
            </a:endParaRPr>
          </a:p>
          <a:p>
            <a:endParaRPr lang="en-US" altLang="zh-CN" dirty="0">
              <a:latin typeface="微软雅黑" panose="020B0503020204020204" charset="-122"/>
              <a:ea typeface="微软雅黑" panose="020B0503020204020204" charset="-122"/>
            </a:endParaRPr>
          </a:p>
          <a:p>
            <a:endParaRPr lang="zh-CN" altLang="zh-CN" dirty="0">
              <a:latin typeface="微软雅黑" panose="020B0503020204020204" charset="-122"/>
              <a:ea typeface="微软雅黑" panose="020B0503020204020204" charset="-122"/>
            </a:endParaRPr>
          </a:p>
        </p:txBody>
      </p:sp>
      <p:sp>
        <p:nvSpPr>
          <p:cNvPr id="8" name="文本框 7"/>
          <p:cNvSpPr txBox="1"/>
          <p:nvPr/>
        </p:nvSpPr>
        <p:spPr>
          <a:xfrm>
            <a:off x="-95250" y="6551295"/>
            <a:ext cx="11018520" cy="338554"/>
          </a:xfrm>
          <a:prstGeom prst="rect">
            <a:avLst/>
          </a:prstGeom>
          <a:noFill/>
        </p:spPr>
        <p:txBody>
          <a:bodyPr wrap="square" rtlCol="0">
            <a:spAutoFit/>
          </a:bodyPr>
          <a:lstStyle/>
          <a:p>
            <a:r>
              <a:rPr lang="en-US" altLang="zh-CN" sz="1600" dirty="0"/>
              <a:t>[1] A. Shamir. 1979. How to Share a Secret. Commun.ACM22, 11, 612–613.</a:t>
            </a:r>
            <a:endParaRPr lang="zh-CN" alt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3" name="文本框 2"/>
          <p:cNvSpPr txBox="1"/>
          <p:nvPr/>
        </p:nvSpPr>
        <p:spPr>
          <a:xfrm>
            <a:off x="417195" y="90805"/>
            <a:ext cx="7366119" cy="707886"/>
          </a:xfrm>
          <a:prstGeom prst="rect">
            <a:avLst/>
          </a:prstGeom>
          <a:noFill/>
        </p:spPr>
        <p:txBody>
          <a:bodyPr wrap="none" rtlCol="0" anchor="t">
            <a:spAutoFit/>
          </a:bodyPr>
          <a:lstStyle/>
          <a:p>
            <a:pPr algn="l">
              <a:defRPr/>
            </a:pP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关键技术：网络形式化验证技术</a:t>
            </a:r>
            <a:endParaRPr lang="zh-CN" altLang="en-US" sz="4000" b="1" dirty="0">
              <a:solidFill>
                <a:schemeClr val="accent5">
                  <a:lumMod val="75000"/>
                </a:schemeClr>
              </a:solidFill>
              <a:latin typeface="微软雅黑" panose="020B0503020204020204" charset="-122"/>
              <a:ea typeface="微软雅黑" panose="020B0503020204020204" charset="-122"/>
            </a:endParaRPr>
          </a:p>
        </p:txBody>
      </p:sp>
      <p:sp>
        <p:nvSpPr>
          <p:cNvPr id="4"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5"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灯片编号占位符 4"/>
          <p:cNvSpPr txBox="1"/>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384D98-B792-49CA-A060-D05B7491F3B4}" type="slidenum">
              <a:rPr lang="zh-CN" altLang="en-US" smtClean="0"/>
            </a:fld>
            <a:endParaRPr lang="zh-CN" altLang="en-US" dirty="0"/>
          </a:p>
        </p:txBody>
      </p:sp>
      <p:sp>
        <p:nvSpPr>
          <p:cNvPr id="7" name="灯片编号占位符 4"/>
          <p:cNvSpPr txBox="1"/>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384D98-B792-49CA-A060-D05B7491F3B4}" type="slidenum">
              <a:rPr lang="zh-CN" altLang="en-US" smtClean="0"/>
            </a:fld>
            <a:endParaRPr lang="zh-CN" altLang="en-US" dirty="0"/>
          </a:p>
        </p:txBody>
      </p:sp>
      <p:cxnSp>
        <p:nvCxnSpPr>
          <p:cNvPr id="8" name="直接连接符 7"/>
          <p:cNvCxnSpPr>
            <a:stCxn id="19" idx="3"/>
            <a:endCxn id="20" idx="1"/>
          </p:cNvCxnSpPr>
          <p:nvPr/>
        </p:nvCxnSpPr>
        <p:spPr>
          <a:xfrm flipV="1">
            <a:off x="3269738" y="2585626"/>
            <a:ext cx="2458384" cy="13365"/>
          </a:xfrm>
          <a:prstGeom prst="line">
            <a:avLst/>
          </a:prstGeom>
          <a:ln w="50800">
            <a:solidFill>
              <a:srgbClr val="000000"/>
            </a:solidFill>
            <a:miter lim="400000"/>
          </a:ln>
        </p:spPr>
      </p:cxnSp>
      <p:cxnSp>
        <p:nvCxnSpPr>
          <p:cNvPr id="9" name="直接连接符 8"/>
          <p:cNvCxnSpPr>
            <a:stCxn id="20" idx="3"/>
            <a:endCxn id="21" idx="1"/>
          </p:cNvCxnSpPr>
          <p:nvPr/>
        </p:nvCxnSpPr>
        <p:spPr>
          <a:xfrm>
            <a:off x="7000484" y="2585626"/>
            <a:ext cx="2458384" cy="0"/>
          </a:xfrm>
          <a:prstGeom prst="line">
            <a:avLst/>
          </a:prstGeom>
          <a:ln w="50800">
            <a:solidFill>
              <a:srgbClr val="000000"/>
            </a:solidFill>
            <a:miter lim="400000"/>
          </a:ln>
        </p:spPr>
      </p:cxnSp>
      <p:cxnSp>
        <p:nvCxnSpPr>
          <p:cNvPr id="10" name="直接连接符 9"/>
          <p:cNvCxnSpPr>
            <a:stCxn id="19" idx="2"/>
            <a:endCxn id="22" idx="1"/>
          </p:cNvCxnSpPr>
          <p:nvPr/>
        </p:nvCxnSpPr>
        <p:spPr>
          <a:xfrm>
            <a:off x="2633557" y="2949353"/>
            <a:ext cx="1092699" cy="1817983"/>
          </a:xfrm>
          <a:prstGeom prst="line">
            <a:avLst/>
          </a:prstGeom>
          <a:ln w="50800">
            <a:solidFill>
              <a:srgbClr val="000000"/>
            </a:solidFill>
            <a:miter lim="400000"/>
          </a:ln>
        </p:spPr>
      </p:cxnSp>
      <p:cxnSp>
        <p:nvCxnSpPr>
          <p:cNvPr id="11" name="直接连接符 10"/>
          <p:cNvCxnSpPr>
            <a:stCxn id="22" idx="3"/>
            <a:endCxn id="20" idx="2"/>
          </p:cNvCxnSpPr>
          <p:nvPr/>
        </p:nvCxnSpPr>
        <p:spPr>
          <a:xfrm flipV="1">
            <a:off x="4998618" y="2935988"/>
            <a:ext cx="1365685" cy="1831348"/>
          </a:xfrm>
          <a:prstGeom prst="line">
            <a:avLst/>
          </a:prstGeom>
          <a:ln w="50800">
            <a:solidFill>
              <a:srgbClr val="000000"/>
            </a:solidFill>
            <a:miter lim="400000"/>
          </a:ln>
        </p:spPr>
      </p:cxnSp>
      <p:sp>
        <p:nvSpPr>
          <p:cNvPr id="12" name="文本框 11"/>
          <p:cNvSpPr txBox="1"/>
          <p:nvPr/>
        </p:nvSpPr>
        <p:spPr>
          <a:xfrm>
            <a:off x="4161159" y="2630382"/>
            <a:ext cx="397866"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a</a:t>
            </a:r>
            <a:r>
              <a:rPr lang="en-US" altLang="zh-CN" baseline="-25000" dirty="0">
                <a:latin typeface="Arial" panose="020B0604020202020204" pitchFamily="34" charset="0"/>
                <a:cs typeface="Arial" panose="020B0604020202020204" pitchFamily="34" charset="0"/>
              </a:rPr>
              <a:t>1</a:t>
            </a:r>
            <a:endParaRPr lang="zh-CN" altLang="en-US" baseline="-25000" dirty="0">
              <a:latin typeface="Arial" panose="020B0604020202020204" pitchFamily="34" charset="0"/>
              <a:cs typeface="Arial" panose="020B0604020202020204" pitchFamily="34" charset="0"/>
            </a:endParaRPr>
          </a:p>
        </p:txBody>
      </p:sp>
      <p:sp>
        <p:nvSpPr>
          <p:cNvPr id="13" name="文本框 12"/>
          <p:cNvSpPr txBox="1"/>
          <p:nvPr/>
        </p:nvSpPr>
        <p:spPr>
          <a:xfrm>
            <a:off x="3120065" y="3448613"/>
            <a:ext cx="484787" cy="369332"/>
          </a:xfrm>
          <a:prstGeom prst="rect">
            <a:avLst/>
          </a:prstGeom>
          <a:noFill/>
        </p:spPr>
        <p:txBody>
          <a:bodyPr wrap="square">
            <a:spAutoFit/>
          </a:bodyPr>
          <a:lstStyle/>
          <a:p>
            <a:r>
              <a:rPr lang="en-US" altLang="zh-CN" dirty="0">
                <a:latin typeface="Arial" panose="020B0604020202020204" pitchFamily="34" charset="0"/>
                <a:cs typeface="Arial" panose="020B0604020202020204" pitchFamily="34" charset="0"/>
              </a:rPr>
              <a:t>a</a:t>
            </a:r>
            <a:r>
              <a:rPr lang="en-US" altLang="zh-CN" baseline="-25000" dirty="0">
                <a:latin typeface="Arial" panose="020B0604020202020204" pitchFamily="34" charset="0"/>
                <a:cs typeface="Arial" panose="020B0604020202020204" pitchFamily="34" charset="0"/>
              </a:rPr>
              <a:t>2</a:t>
            </a:r>
            <a:endParaRPr lang="zh-CN" altLang="en-US" baseline="-25000" dirty="0"/>
          </a:p>
        </p:txBody>
      </p:sp>
      <p:sp>
        <p:nvSpPr>
          <p:cNvPr id="14" name="文本框 13"/>
          <p:cNvSpPr txBox="1"/>
          <p:nvPr/>
        </p:nvSpPr>
        <p:spPr>
          <a:xfrm>
            <a:off x="5330274" y="3435247"/>
            <a:ext cx="484787" cy="369332"/>
          </a:xfrm>
          <a:prstGeom prst="rect">
            <a:avLst/>
          </a:prstGeom>
          <a:noFill/>
        </p:spPr>
        <p:txBody>
          <a:bodyPr wrap="square">
            <a:spAutoFit/>
          </a:bodyPr>
          <a:lstStyle/>
          <a:p>
            <a:r>
              <a:rPr lang="en-US" altLang="zh-CN" dirty="0">
                <a:latin typeface="Arial" panose="020B0604020202020204" pitchFamily="34" charset="0"/>
                <a:cs typeface="Arial" panose="020B0604020202020204" pitchFamily="34" charset="0"/>
              </a:rPr>
              <a:t>a</a:t>
            </a:r>
            <a:r>
              <a:rPr lang="en-US" altLang="zh-CN" baseline="-25000" dirty="0">
                <a:latin typeface="Arial" panose="020B0604020202020204" pitchFamily="34" charset="0"/>
                <a:cs typeface="Arial" panose="020B0604020202020204" pitchFamily="34" charset="0"/>
              </a:rPr>
              <a:t>3</a:t>
            </a:r>
            <a:endParaRPr lang="zh-CN" altLang="en-US" baseline="-25000" dirty="0"/>
          </a:p>
        </p:txBody>
      </p:sp>
      <p:sp>
        <p:nvSpPr>
          <p:cNvPr id="15" name="文本框 14"/>
          <p:cNvSpPr txBox="1"/>
          <p:nvPr/>
        </p:nvSpPr>
        <p:spPr>
          <a:xfrm>
            <a:off x="8105114" y="2630382"/>
            <a:ext cx="484787" cy="369332"/>
          </a:xfrm>
          <a:prstGeom prst="rect">
            <a:avLst/>
          </a:prstGeom>
          <a:noFill/>
        </p:spPr>
        <p:txBody>
          <a:bodyPr wrap="square">
            <a:spAutoFit/>
          </a:bodyPr>
          <a:lstStyle/>
          <a:p>
            <a:r>
              <a:rPr lang="en-US" altLang="zh-CN" dirty="0">
                <a:latin typeface="Arial" panose="020B0604020202020204" pitchFamily="34" charset="0"/>
                <a:cs typeface="Arial" panose="020B0604020202020204" pitchFamily="34" charset="0"/>
              </a:rPr>
              <a:t>a</a:t>
            </a:r>
            <a:r>
              <a:rPr lang="en-US" altLang="zh-CN" baseline="-25000" dirty="0">
                <a:latin typeface="Arial" panose="020B0604020202020204" pitchFamily="34" charset="0"/>
                <a:cs typeface="Arial" panose="020B0604020202020204" pitchFamily="34" charset="0"/>
              </a:rPr>
              <a:t>4</a:t>
            </a:r>
            <a:endParaRPr lang="zh-CN" altLang="en-US" baseline="-25000" dirty="0"/>
          </a:p>
        </p:txBody>
      </p:sp>
      <p:cxnSp>
        <p:nvCxnSpPr>
          <p:cNvPr id="16" name="直接箭头连接符 15"/>
          <p:cNvCxnSpPr>
            <a:stCxn id="17" idx="3"/>
            <a:endCxn id="19" idx="1"/>
          </p:cNvCxnSpPr>
          <p:nvPr/>
        </p:nvCxnSpPr>
        <p:spPr>
          <a:xfrm>
            <a:off x="1412828" y="2598991"/>
            <a:ext cx="584548" cy="0"/>
          </a:xfrm>
          <a:prstGeom prst="straightConnector1">
            <a:avLst/>
          </a:prstGeom>
          <a:noFill/>
          <a:ln w="63500" cap="flat">
            <a:solidFill>
              <a:schemeClr val="accent6"/>
            </a:solidFill>
            <a:prstDash val="solid"/>
            <a:miter lim="400000"/>
            <a:tailEnd type="triangle" w="med" len="med"/>
          </a:ln>
          <a:effectLst/>
        </p:spPr>
      </p:cxnSp>
      <p:sp>
        <p:nvSpPr>
          <p:cNvPr id="17" name="文本框 16"/>
          <p:cNvSpPr txBox="1"/>
          <p:nvPr/>
        </p:nvSpPr>
        <p:spPr>
          <a:xfrm>
            <a:off x="170756" y="2414325"/>
            <a:ext cx="1242072"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Subnet N</a:t>
            </a:r>
            <a:endParaRPr lang="zh-CN" altLang="en-US" dirty="0">
              <a:latin typeface="Arial" panose="020B0604020202020204" pitchFamily="34" charset="0"/>
              <a:cs typeface="Arial" panose="020B0604020202020204" pitchFamily="34" charset="0"/>
            </a:endParaRPr>
          </a:p>
        </p:txBody>
      </p:sp>
      <p:sp>
        <p:nvSpPr>
          <p:cNvPr id="18" name="文本框 17"/>
          <p:cNvSpPr txBox="1"/>
          <p:nvPr/>
        </p:nvSpPr>
        <p:spPr>
          <a:xfrm>
            <a:off x="3546585" y="2111762"/>
            <a:ext cx="1904689"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m</a:t>
            </a:r>
            <a:r>
              <a:rPr lang="en-US" altLang="zh-CN" baseline="-25000" dirty="0">
                <a:latin typeface="Arial" panose="020B0604020202020204" pitchFamily="34" charset="0"/>
                <a:cs typeface="Arial" panose="020B0604020202020204" pitchFamily="34" charset="0"/>
              </a:rPr>
              <a:t>1</a:t>
            </a:r>
            <a:r>
              <a:rPr lang="en-US" altLang="zh-CN" dirty="0">
                <a:latin typeface="Arial" panose="020B0604020202020204" pitchFamily="34" charset="0"/>
                <a:cs typeface="Arial" panose="020B0604020202020204" pitchFamily="34" charset="0"/>
              </a:rPr>
              <a:t>=(N,100,A,</a:t>
            </a:r>
            <a:r>
              <a:rPr lang="en-US" altLang="zh-CN" b="1" dirty="0">
                <a:solidFill>
                  <a:srgbClr val="FF0000"/>
                </a:solidFill>
                <a:latin typeface="微软雅黑" panose="020B0503020204020204" charset="-122"/>
                <a:ea typeface="微软雅黑" panose="020B0503020204020204" charset="-122"/>
                <a:cs typeface="Arial" panose="020B0604020202020204" pitchFamily="34" charset="0"/>
              </a:rPr>
              <a:t>a</a:t>
            </a:r>
            <a:r>
              <a:rPr lang="en-US" altLang="zh-CN" b="1" baseline="-25000" dirty="0">
                <a:solidFill>
                  <a:srgbClr val="FF0000"/>
                </a:solidFill>
                <a:latin typeface="微软雅黑" panose="020B0503020204020204" charset="-122"/>
                <a:ea typeface="微软雅黑" panose="020B0503020204020204" charset="-122"/>
                <a:cs typeface="Arial" panose="020B0604020202020204" pitchFamily="34" charset="0"/>
              </a:rPr>
              <a:t>1</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19" name="矩形: 圆角 18"/>
          <p:cNvSpPr/>
          <p:nvPr/>
        </p:nvSpPr>
        <p:spPr>
          <a:xfrm>
            <a:off x="1997376" y="2248628"/>
            <a:ext cx="1272362" cy="70072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b="1" dirty="0">
                <a:latin typeface="Arial" panose="020B0604020202020204" pitchFamily="34" charset="0"/>
                <a:cs typeface="Arial" panose="020B0604020202020204" pitchFamily="34" charset="0"/>
              </a:rPr>
              <a:t>A</a:t>
            </a:r>
            <a:endParaRPr lang="en-US" altLang="zh-CN" b="1" dirty="0">
              <a:latin typeface="Arial" panose="020B0604020202020204" pitchFamily="34" charset="0"/>
              <a:cs typeface="Arial" panose="020B0604020202020204" pitchFamily="34" charset="0"/>
            </a:endParaRPr>
          </a:p>
          <a:p>
            <a:pPr algn="ctr"/>
            <a:r>
              <a:rPr lang="en-US" altLang="zh-CN" b="1" dirty="0">
                <a:latin typeface="Arial" panose="020B0604020202020204" pitchFamily="34" charset="0"/>
                <a:cs typeface="Arial" panose="020B0604020202020204" pitchFamily="34" charset="0"/>
              </a:rPr>
              <a:t>(AS 100)</a:t>
            </a:r>
            <a:endParaRPr lang="zh-CN" altLang="en-US" b="1" dirty="0">
              <a:latin typeface="Arial" panose="020B0604020202020204" pitchFamily="34" charset="0"/>
              <a:cs typeface="Arial" panose="020B0604020202020204" pitchFamily="34" charset="0"/>
            </a:endParaRPr>
          </a:p>
        </p:txBody>
      </p:sp>
      <p:sp>
        <p:nvSpPr>
          <p:cNvPr id="20" name="矩形: 圆角 19"/>
          <p:cNvSpPr/>
          <p:nvPr/>
        </p:nvSpPr>
        <p:spPr>
          <a:xfrm>
            <a:off x="5728122" y="2235263"/>
            <a:ext cx="1272362" cy="70072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b="1" dirty="0">
                <a:latin typeface="Arial" panose="020B0604020202020204" pitchFamily="34" charset="0"/>
                <a:cs typeface="Arial" panose="020B0604020202020204" pitchFamily="34" charset="0"/>
              </a:rPr>
              <a:t>C</a:t>
            </a:r>
            <a:endParaRPr lang="en-US" altLang="zh-CN" b="1" dirty="0">
              <a:latin typeface="Arial" panose="020B0604020202020204" pitchFamily="34" charset="0"/>
              <a:cs typeface="Arial" panose="020B0604020202020204" pitchFamily="34" charset="0"/>
            </a:endParaRPr>
          </a:p>
          <a:p>
            <a:pPr algn="ctr"/>
            <a:r>
              <a:rPr lang="en-US" altLang="zh-CN" b="1" dirty="0">
                <a:latin typeface="Arial" panose="020B0604020202020204" pitchFamily="34" charset="0"/>
                <a:cs typeface="Arial" panose="020B0604020202020204" pitchFamily="34" charset="0"/>
              </a:rPr>
              <a:t>(AS 300)</a:t>
            </a:r>
            <a:endParaRPr lang="zh-CN" altLang="en-US" b="1" dirty="0">
              <a:latin typeface="Arial" panose="020B0604020202020204" pitchFamily="34" charset="0"/>
              <a:cs typeface="Arial" panose="020B0604020202020204" pitchFamily="34" charset="0"/>
            </a:endParaRPr>
          </a:p>
        </p:txBody>
      </p:sp>
      <p:sp>
        <p:nvSpPr>
          <p:cNvPr id="21" name="矩形: 圆角 20"/>
          <p:cNvSpPr/>
          <p:nvPr/>
        </p:nvSpPr>
        <p:spPr>
          <a:xfrm>
            <a:off x="9458868" y="2235263"/>
            <a:ext cx="1272362" cy="70072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b="1" dirty="0">
                <a:latin typeface="Arial" panose="020B0604020202020204" pitchFamily="34" charset="0"/>
                <a:cs typeface="Arial" panose="020B0604020202020204" pitchFamily="34" charset="0"/>
              </a:rPr>
              <a:t>D</a:t>
            </a:r>
            <a:endParaRPr lang="en-US" altLang="zh-CN" b="1" dirty="0">
              <a:latin typeface="Arial" panose="020B0604020202020204" pitchFamily="34" charset="0"/>
              <a:cs typeface="Arial" panose="020B0604020202020204" pitchFamily="34" charset="0"/>
            </a:endParaRPr>
          </a:p>
          <a:p>
            <a:pPr algn="ctr"/>
            <a:r>
              <a:rPr lang="en-US" altLang="zh-CN" b="1" dirty="0">
                <a:latin typeface="Arial" panose="020B0604020202020204" pitchFamily="34" charset="0"/>
                <a:cs typeface="Arial" panose="020B0604020202020204" pitchFamily="34" charset="0"/>
              </a:rPr>
              <a:t>(AS 400)</a:t>
            </a:r>
            <a:endParaRPr lang="zh-CN" altLang="en-US" b="1" dirty="0">
              <a:latin typeface="Arial" panose="020B0604020202020204" pitchFamily="34" charset="0"/>
              <a:cs typeface="Arial" panose="020B0604020202020204" pitchFamily="34" charset="0"/>
            </a:endParaRPr>
          </a:p>
        </p:txBody>
      </p:sp>
      <p:sp>
        <p:nvSpPr>
          <p:cNvPr id="22" name="矩形: 圆角 21"/>
          <p:cNvSpPr/>
          <p:nvPr/>
        </p:nvSpPr>
        <p:spPr>
          <a:xfrm>
            <a:off x="3726256" y="4416973"/>
            <a:ext cx="1272362" cy="70072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b="1" dirty="0">
                <a:latin typeface="Arial" panose="020B0604020202020204" pitchFamily="34" charset="0"/>
                <a:cs typeface="Arial" panose="020B0604020202020204" pitchFamily="34" charset="0"/>
              </a:rPr>
              <a:t>B</a:t>
            </a:r>
            <a:endParaRPr lang="en-US" altLang="zh-CN" b="1" dirty="0">
              <a:latin typeface="Arial" panose="020B0604020202020204" pitchFamily="34" charset="0"/>
              <a:cs typeface="Arial" panose="020B0604020202020204" pitchFamily="34" charset="0"/>
            </a:endParaRPr>
          </a:p>
          <a:p>
            <a:pPr algn="ctr"/>
            <a:r>
              <a:rPr lang="en-US" altLang="zh-CN" b="1" dirty="0">
                <a:latin typeface="Arial" panose="020B0604020202020204" pitchFamily="34" charset="0"/>
                <a:cs typeface="Arial" panose="020B0604020202020204" pitchFamily="34" charset="0"/>
              </a:rPr>
              <a:t>(AS 200)</a:t>
            </a:r>
            <a:endParaRPr lang="zh-CN" altLang="en-US" b="1" dirty="0">
              <a:latin typeface="Arial" panose="020B0604020202020204" pitchFamily="34" charset="0"/>
              <a:cs typeface="Arial" panose="020B0604020202020204" pitchFamily="34" charset="0"/>
            </a:endParaRPr>
          </a:p>
        </p:txBody>
      </p:sp>
      <p:sp>
        <p:nvSpPr>
          <p:cNvPr id="23" name="文本框 22"/>
          <p:cNvSpPr txBox="1"/>
          <p:nvPr/>
        </p:nvSpPr>
        <p:spPr>
          <a:xfrm>
            <a:off x="1417356" y="3895263"/>
            <a:ext cx="1904689"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m</a:t>
            </a:r>
            <a:r>
              <a:rPr lang="en-US" altLang="zh-CN" baseline="-25000" dirty="0">
                <a:latin typeface="Arial" panose="020B0604020202020204" pitchFamily="34" charset="0"/>
                <a:cs typeface="Arial" panose="020B0604020202020204" pitchFamily="34" charset="0"/>
              </a:rPr>
              <a:t>2</a:t>
            </a:r>
            <a:r>
              <a:rPr lang="en-US" altLang="zh-CN" dirty="0">
                <a:latin typeface="Arial" panose="020B0604020202020204" pitchFamily="34" charset="0"/>
                <a:cs typeface="Arial" panose="020B0604020202020204" pitchFamily="34" charset="0"/>
              </a:rPr>
              <a:t>=(N,100,A,</a:t>
            </a:r>
            <a:r>
              <a:rPr lang="en-US" altLang="zh-CN" b="1" dirty="0">
                <a:solidFill>
                  <a:srgbClr val="FF0000"/>
                </a:solidFill>
                <a:latin typeface="微软雅黑" panose="020B0503020204020204" charset="-122"/>
                <a:ea typeface="微软雅黑" panose="020B0503020204020204" charset="-122"/>
                <a:cs typeface="Arial" panose="020B0604020202020204" pitchFamily="34" charset="0"/>
              </a:rPr>
              <a:t>a</a:t>
            </a:r>
            <a:r>
              <a:rPr lang="en-US" altLang="zh-CN" b="1" baseline="-25000" dirty="0">
                <a:solidFill>
                  <a:srgbClr val="FF0000"/>
                </a:solidFill>
                <a:latin typeface="微软雅黑" panose="020B0503020204020204" charset="-122"/>
                <a:ea typeface="微软雅黑" panose="020B0503020204020204" charset="-122"/>
                <a:cs typeface="Arial" panose="020B0604020202020204" pitchFamily="34" charset="0"/>
              </a:rPr>
              <a:t>2</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24" name="文本框 23"/>
          <p:cNvSpPr txBox="1"/>
          <p:nvPr/>
        </p:nvSpPr>
        <p:spPr>
          <a:xfrm>
            <a:off x="5812868" y="3555273"/>
            <a:ext cx="2529860" cy="369332"/>
          </a:xfrm>
          <a:prstGeom prst="rect">
            <a:avLst/>
          </a:prstGeom>
          <a:noFill/>
        </p:spPr>
        <p:txBody>
          <a:bodyPr wrap="none" rtlCol="0">
            <a:spAutoFit/>
          </a:bodyPr>
          <a:lstStyle/>
          <a:p>
            <a:r>
              <a:rPr lang="en-US" altLang="zh-CN" dirty="0">
                <a:latin typeface="Arial" panose="020B0604020202020204" pitchFamily="34" charset="0"/>
                <a:cs typeface="Arial" panose="020B0604020202020204" pitchFamily="34" charset="0"/>
              </a:rPr>
              <a:t>m</a:t>
            </a:r>
            <a:r>
              <a:rPr lang="en-US" altLang="zh-CN" baseline="-25000" dirty="0">
                <a:latin typeface="Arial" panose="020B0604020202020204" pitchFamily="34" charset="0"/>
                <a:cs typeface="Arial" panose="020B0604020202020204" pitchFamily="34" charset="0"/>
              </a:rPr>
              <a:t>3</a:t>
            </a:r>
            <a:r>
              <a:rPr lang="en-US" altLang="zh-CN" dirty="0">
                <a:latin typeface="Arial" panose="020B0604020202020204" pitchFamily="34" charset="0"/>
                <a:cs typeface="Arial" panose="020B0604020202020204" pitchFamily="34" charset="0"/>
              </a:rPr>
              <a:t>=(N,100-200,</a:t>
            </a:r>
            <a:r>
              <a:rPr lang="en-US" altLang="zh-CN" b="1" dirty="0">
                <a:solidFill>
                  <a:srgbClr val="FF0000"/>
                </a:solidFill>
                <a:latin typeface="Arial" panose="020B0604020202020204" pitchFamily="34" charset="0"/>
                <a:cs typeface="Arial" panose="020B0604020202020204" pitchFamily="34" charset="0"/>
              </a:rPr>
              <a:t>a</a:t>
            </a:r>
            <a:r>
              <a:rPr lang="en-US" altLang="zh-CN" b="1" baseline="-25000" dirty="0">
                <a:solidFill>
                  <a:srgbClr val="FF0000"/>
                </a:solidFill>
                <a:latin typeface="Arial" panose="020B0604020202020204" pitchFamily="34" charset="0"/>
                <a:cs typeface="Arial" panose="020B0604020202020204" pitchFamily="34" charset="0"/>
              </a:rPr>
              <a:t>2</a:t>
            </a:r>
            <a:r>
              <a:rPr lang="en-US" altLang="zh-CN" b="1" dirty="0">
                <a:solidFill>
                  <a:srgbClr val="FF0000"/>
                </a:solidFill>
                <a:latin typeface="Arial" panose="020B0604020202020204" pitchFamily="34" charset="0"/>
                <a:cs typeface="Arial" panose="020B0604020202020204" pitchFamily="34" charset="0"/>
              </a:rPr>
              <a:t>∧a</a:t>
            </a:r>
            <a:r>
              <a:rPr lang="en-US" altLang="zh-CN" b="1" baseline="-25000" dirty="0">
                <a:solidFill>
                  <a:srgbClr val="FF0000"/>
                </a:solidFill>
                <a:latin typeface="Arial" panose="020B0604020202020204" pitchFamily="34" charset="0"/>
                <a:cs typeface="Arial" panose="020B0604020202020204" pitchFamily="34" charset="0"/>
              </a:rPr>
              <a:t>3</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25" name="文本框 24"/>
          <p:cNvSpPr txBox="1"/>
          <p:nvPr/>
        </p:nvSpPr>
        <p:spPr>
          <a:xfrm>
            <a:off x="7238702" y="5674716"/>
            <a:ext cx="4440331" cy="646331"/>
          </a:xfrm>
          <a:prstGeom prst="rect">
            <a:avLst/>
          </a:prstGeom>
          <a:noFill/>
          <a:ln w="12700">
            <a:solidFill>
              <a:schemeClr val="tx1"/>
            </a:solidFill>
            <a:prstDash val="sysDash"/>
          </a:ln>
        </p:spPr>
        <p:txBody>
          <a:bodyPr wrap="square" rtlCol="0">
            <a:spAutoFit/>
          </a:bodyPr>
          <a:lstStyle>
            <a:defPPr>
              <a:defRPr lang="zh-CN"/>
            </a:defPPr>
            <a:lvl1pPr>
              <a:defRPr>
                <a:latin typeface="Arial" panose="020B0604020202020204" pitchFamily="34" charset="0"/>
                <a:cs typeface="Arial" panose="020B0604020202020204" pitchFamily="34" charset="0"/>
              </a:defRPr>
            </a:lvl1pPr>
          </a:lstStyle>
          <a:p>
            <a:r>
              <a:rPr lang="en-US" altLang="zh-CN" dirty="0"/>
              <a:t>m</a:t>
            </a:r>
            <a:r>
              <a:rPr lang="en-US" altLang="zh-CN" baseline="-25000" dirty="0"/>
              <a:t>4</a:t>
            </a:r>
            <a:r>
              <a:rPr lang="en-US" altLang="zh-CN" dirty="0"/>
              <a:t>=(N,100-300,C,</a:t>
            </a:r>
            <a:r>
              <a:rPr lang="zh-CN" altLang="en-US" dirty="0"/>
              <a:t> </a:t>
            </a:r>
            <a:r>
              <a:rPr lang="en-US" altLang="zh-CN" b="1" dirty="0">
                <a:solidFill>
                  <a:srgbClr val="FF0000"/>
                </a:solidFill>
                <a:latin typeface="微软雅黑" panose="020B0503020204020204" charset="-122"/>
                <a:ea typeface="微软雅黑" panose="020B0503020204020204" charset="-122"/>
              </a:rPr>
              <a:t>a</a:t>
            </a:r>
            <a:r>
              <a:rPr lang="en-US" altLang="zh-CN" b="1" baseline="-25000" dirty="0">
                <a:solidFill>
                  <a:srgbClr val="FF0000"/>
                </a:solidFill>
                <a:latin typeface="微软雅黑" panose="020B0503020204020204" charset="-122"/>
                <a:ea typeface="微软雅黑" panose="020B0503020204020204" charset="-122"/>
              </a:rPr>
              <a:t>1</a:t>
            </a:r>
            <a:r>
              <a:rPr lang="en-US" altLang="zh-CN" b="1" dirty="0">
                <a:solidFill>
                  <a:srgbClr val="FF0000"/>
                </a:solidFill>
                <a:latin typeface="微软雅黑" panose="020B0503020204020204" charset="-122"/>
                <a:ea typeface="微软雅黑" panose="020B0503020204020204" charset="-122"/>
              </a:rPr>
              <a:t>∧a</a:t>
            </a:r>
            <a:r>
              <a:rPr lang="en-US" altLang="zh-CN" b="1" baseline="-25000" dirty="0">
                <a:solidFill>
                  <a:srgbClr val="FF0000"/>
                </a:solidFill>
                <a:latin typeface="微软雅黑" panose="020B0503020204020204" charset="-122"/>
                <a:ea typeface="微软雅黑" panose="020B0503020204020204" charset="-122"/>
              </a:rPr>
              <a:t>4</a:t>
            </a:r>
            <a:r>
              <a:rPr lang="en-US" altLang="zh-CN" dirty="0"/>
              <a:t>)</a:t>
            </a:r>
            <a:endParaRPr lang="en-US" altLang="zh-CN" dirty="0"/>
          </a:p>
          <a:p>
            <a:r>
              <a:rPr lang="en-US" altLang="zh-CN" dirty="0"/>
              <a:t>m</a:t>
            </a:r>
            <a:r>
              <a:rPr lang="en-US" altLang="zh-CN" baseline="-25000" dirty="0"/>
              <a:t>5</a:t>
            </a:r>
            <a:r>
              <a:rPr lang="en-US" altLang="zh-CN" dirty="0"/>
              <a:t>=(N,100-200-300,C,</a:t>
            </a:r>
            <a:r>
              <a:rPr lang="zh-CN" altLang="en-US" dirty="0"/>
              <a:t> </a:t>
            </a:r>
            <a:r>
              <a:rPr lang="en-US" altLang="zh-CN" b="1" dirty="0">
                <a:solidFill>
                  <a:srgbClr val="FF0000"/>
                </a:solidFill>
                <a:latin typeface="微软雅黑" panose="020B0503020204020204" charset="-122"/>
                <a:ea typeface="微软雅黑" panose="020B0503020204020204" charset="-122"/>
              </a:rPr>
              <a:t>¬a</a:t>
            </a:r>
            <a:r>
              <a:rPr lang="en-US" altLang="zh-CN" b="1" baseline="-25000" dirty="0">
                <a:solidFill>
                  <a:srgbClr val="FF0000"/>
                </a:solidFill>
                <a:latin typeface="微软雅黑" panose="020B0503020204020204" charset="-122"/>
                <a:ea typeface="微软雅黑" panose="020B0503020204020204" charset="-122"/>
              </a:rPr>
              <a:t>1</a:t>
            </a:r>
            <a:r>
              <a:rPr lang="en-US" altLang="zh-CN" b="1" dirty="0">
                <a:solidFill>
                  <a:srgbClr val="FF0000"/>
                </a:solidFill>
                <a:latin typeface="微软雅黑" panose="020B0503020204020204" charset="-122"/>
                <a:ea typeface="微软雅黑" panose="020B0503020204020204" charset="-122"/>
              </a:rPr>
              <a:t>∧ a</a:t>
            </a:r>
            <a:r>
              <a:rPr lang="en-US" altLang="zh-CN" b="1" baseline="-25000" dirty="0">
                <a:solidFill>
                  <a:srgbClr val="FF0000"/>
                </a:solidFill>
                <a:latin typeface="微软雅黑" panose="020B0503020204020204" charset="-122"/>
                <a:ea typeface="微软雅黑" panose="020B0503020204020204" charset="-122"/>
              </a:rPr>
              <a:t>2</a:t>
            </a:r>
            <a:r>
              <a:rPr lang="en-US" altLang="zh-CN" b="1" dirty="0">
                <a:solidFill>
                  <a:srgbClr val="FF0000"/>
                </a:solidFill>
                <a:latin typeface="微软雅黑" panose="020B0503020204020204" charset="-122"/>
                <a:ea typeface="微软雅黑" panose="020B0503020204020204" charset="-122"/>
              </a:rPr>
              <a:t>∧a</a:t>
            </a:r>
            <a:r>
              <a:rPr lang="en-US" altLang="zh-CN" b="1" baseline="-25000" dirty="0">
                <a:solidFill>
                  <a:srgbClr val="FF0000"/>
                </a:solidFill>
                <a:latin typeface="微软雅黑" panose="020B0503020204020204" charset="-122"/>
                <a:ea typeface="微软雅黑" panose="020B0503020204020204" charset="-122"/>
              </a:rPr>
              <a:t>3</a:t>
            </a:r>
            <a:r>
              <a:rPr lang="en-US" altLang="zh-CN" b="1" dirty="0">
                <a:solidFill>
                  <a:srgbClr val="FF0000"/>
                </a:solidFill>
                <a:latin typeface="微软雅黑" panose="020B0503020204020204" charset="-122"/>
                <a:ea typeface="微软雅黑" panose="020B0503020204020204" charset="-122"/>
              </a:rPr>
              <a:t> ∧</a:t>
            </a:r>
            <a:r>
              <a:rPr lang="en-US" altLang="zh-CN" b="1" baseline="-25000" dirty="0">
                <a:solidFill>
                  <a:srgbClr val="FF0000"/>
                </a:solidFill>
                <a:latin typeface="微软雅黑" panose="020B0503020204020204" charset="-122"/>
                <a:ea typeface="微软雅黑" panose="020B0503020204020204" charset="-122"/>
              </a:rPr>
              <a:t> </a:t>
            </a:r>
            <a:r>
              <a:rPr lang="en-US" altLang="zh-CN" b="1" dirty="0">
                <a:solidFill>
                  <a:srgbClr val="FF0000"/>
                </a:solidFill>
                <a:latin typeface="微软雅黑" panose="020B0503020204020204" charset="-122"/>
                <a:ea typeface="微软雅黑" panose="020B0503020204020204" charset="-122"/>
              </a:rPr>
              <a:t>a</a:t>
            </a:r>
            <a:r>
              <a:rPr lang="en-US" altLang="zh-CN" b="1" baseline="-25000" dirty="0">
                <a:solidFill>
                  <a:srgbClr val="FF0000"/>
                </a:solidFill>
                <a:latin typeface="微软雅黑" panose="020B0503020204020204" charset="-122"/>
                <a:ea typeface="微软雅黑" panose="020B0503020204020204" charset="-122"/>
              </a:rPr>
              <a:t>4</a:t>
            </a:r>
            <a:r>
              <a:rPr lang="en-US" altLang="zh-CN" dirty="0"/>
              <a:t>)</a:t>
            </a:r>
            <a:endParaRPr lang="en-US" altLang="zh-CN" dirty="0"/>
          </a:p>
        </p:txBody>
      </p:sp>
      <p:sp>
        <p:nvSpPr>
          <p:cNvPr id="26" name="文本框 25"/>
          <p:cNvSpPr txBox="1"/>
          <p:nvPr/>
        </p:nvSpPr>
        <p:spPr>
          <a:xfrm>
            <a:off x="8092738" y="1074823"/>
            <a:ext cx="1202501" cy="338554"/>
          </a:xfrm>
          <a:prstGeom prst="rect">
            <a:avLst/>
          </a:prstGeom>
          <a:noFill/>
        </p:spPr>
        <p:txBody>
          <a:bodyPr wrap="square" rtlCol="0">
            <a:spAutoFit/>
          </a:bodyPr>
          <a:lstStyle/>
          <a:p>
            <a:r>
              <a:rPr lang="en-US" altLang="zh-CN" sz="1600" dirty="0">
                <a:latin typeface="Arial" panose="020B0604020202020204" pitchFamily="34" charset="0"/>
                <a:cs typeface="Arial" panose="020B0604020202020204" pitchFamily="34" charset="0"/>
              </a:rPr>
              <a:t>D’s RIB</a:t>
            </a:r>
            <a:endParaRPr lang="zh-CN" altLang="en-US" sz="1600" dirty="0">
              <a:latin typeface="Arial" panose="020B0604020202020204" pitchFamily="34" charset="0"/>
              <a:cs typeface="Arial" panose="020B0604020202020204" pitchFamily="34" charset="0"/>
            </a:endParaRPr>
          </a:p>
        </p:txBody>
      </p:sp>
      <p:sp>
        <p:nvSpPr>
          <p:cNvPr id="27" name="椭圆 26"/>
          <p:cNvSpPr/>
          <p:nvPr/>
        </p:nvSpPr>
        <p:spPr>
          <a:xfrm>
            <a:off x="4199187" y="1798877"/>
            <a:ext cx="321809" cy="31288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b="1" dirty="0"/>
              <a:t>1</a:t>
            </a:r>
            <a:endParaRPr lang="zh-CN" altLang="en-US" b="1" dirty="0"/>
          </a:p>
        </p:txBody>
      </p:sp>
      <p:sp>
        <p:nvSpPr>
          <p:cNvPr id="28" name="椭圆 27"/>
          <p:cNvSpPr/>
          <p:nvPr/>
        </p:nvSpPr>
        <p:spPr>
          <a:xfrm>
            <a:off x="2185628" y="3575930"/>
            <a:ext cx="321809" cy="31288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b="1" dirty="0"/>
              <a:t>2</a:t>
            </a:r>
            <a:endParaRPr lang="zh-CN" altLang="en-US" b="1" dirty="0"/>
          </a:p>
        </p:txBody>
      </p:sp>
      <p:sp>
        <p:nvSpPr>
          <p:cNvPr id="29" name="椭圆 28"/>
          <p:cNvSpPr/>
          <p:nvPr/>
        </p:nvSpPr>
        <p:spPr>
          <a:xfrm>
            <a:off x="6755989" y="3264368"/>
            <a:ext cx="321809" cy="31288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b="1" dirty="0"/>
              <a:t>3</a:t>
            </a:r>
            <a:endParaRPr lang="zh-CN" altLang="en-US" b="1" dirty="0"/>
          </a:p>
        </p:txBody>
      </p:sp>
      <p:sp>
        <p:nvSpPr>
          <p:cNvPr id="30" name="椭圆 29"/>
          <p:cNvSpPr/>
          <p:nvPr/>
        </p:nvSpPr>
        <p:spPr>
          <a:xfrm>
            <a:off x="6916894" y="5811098"/>
            <a:ext cx="321809" cy="317763"/>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b="1" dirty="0"/>
              <a:t>5</a:t>
            </a:r>
            <a:endParaRPr lang="zh-CN" altLang="en-US" b="1" dirty="0"/>
          </a:p>
        </p:txBody>
      </p:sp>
      <p:sp>
        <p:nvSpPr>
          <p:cNvPr id="31" name="文本框 30"/>
          <p:cNvSpPr txBox="1"/>
          <p:nvPr/>
        </p:nvSpPr>
        <p:spPr>
          <a:xfrm>
            <a:off x="8092738" y="1447269"/>
            <a:ext cx="4062331" cy="646331"/>
          </a:xfrm>
          <a:prstGeom prst="rect">
            <a:avLst/>
          </a:prstGeom>
          <a:noFill/>
          <a:ln w="12700">
            <a:solidFill>
              <a:schemeClr val="tx1"/>
            </a:solidFill>
            <a:prstDash val="sysDash"/>
          </a:ln>
        </p:spPr>
        <p:txBody>
          <a:bodyPr wrap="none" rtlCol="0">
            <a:spAutoFit/>
          </a:bodyPr>
          <a:lstStyle>
            <a:defPPr>
              <a:defRPr lang="zh-CN"/>
            </a:defPPr>
            <a:lvl1pPr>
              <a:defRPr>
                <a:latin typeface="Arial" panose="020B0604020202020204" pitchFamily="34" charset="0"/>
                <a:cs typeface="Arial" panose="020B0604020202020204" pitchFamily="34" charset="0"/>
              </a:defRPr>
            </a:lvl1pPr>
          </a:lstStyle>
          <a:p>
            <a:r>
              <a:rPr lang="pt-BR" altLang="zh-CN" dirty="0"/>
              <a:t>r</a:t>
            </a:r>
            <a:r>
              <a:rPr lang="pt-BR" altLang="zh-CN" baseline="-25000" dirty="0"/>
              <a:t>3</a:t>
            </a:r>
            <a:r>
              <a:rPr lang="pt-BR" altLang="zh-CN" dirty="0"/>
              <a:t>=(N,100-300,C,</a:t>
            </a:r>
            <a:r>
              <a:rPr lang="pt-BR" altLang="zh-CN" b="1" dirty="0">
                <a:solidFill>
                  <a:srgbClr val="FF0000"/>
                </a:solidFill>
                <a:latin typeface="微软雅黑" panose="020B0503020204020204" charset="-122"/>
                <a:ea typeface="微软雅黑" panose="020B0503020204020204" charset="-122"/>
              </a:rPr>
              <a:t>a</a:t>
            </a:r>
            <a:r>
              <a:rPr lang="pt-BR" altLang="zh-CN" b="1" baseline="-25000" dirty="0">
                <a:solidFill>
                  <a:srgbClr val="FF0000"/>
                </a:solidFill>
                <a:latin typeface="微软雅黑" panose="020B0503020204020204" charset="-122"/>
                <a:ea typeface="微软雅黑" panose="020B0503020204020204" charset="-122"/>
              </a:rPr>
              <a:t>1</a:t>
            </a:r>
            <a:r>
              <a:rPr lang="pt-BR" altLang="zh-CN" b="1" dirty="0">
                <a:solidFill>
                  <a:srgbClr val="FF0000"/>
                </a:solidFill>
                <a:latin typeface="微软雅黑" panose="020B0503020204020204" charset="-122"/>
                <a:ea typeface="微软雅黑" panose="020B0503020204020204" charset="-122"/>
              </a:rPr>
              <a:t>∧a</a:t>
            </a:r>
            <a:r>
              <a:rPr lang="pt-BR" altLang="zh-CN" b="1" baseline="-25000" dirty="0">
                <a:solidFill>
                  <a:srgbClr val="FF0000"/>
                </a:solidFill>
                <a:latin typeface="微软雅黑" panose="020B0503020204020204" charset="-122"/>
                <a:ea typeface="微软雅黑" panose="020B0503020204020204" charset="-122"/>
              </a:rPr>
              <a:t>4</a:t>
            </a:r>
            <a:r>
              <a:rPr lang="pt-BR" altLang="zh-CN" dirty="0"/>
              <a:t>)</a:t>
            </a:r>
            <a:endParaRPr lang="pt-BR" altLang="zh-CN" dirty="0"/>
          </a:p>
          <a:p>
            <a:r>
              <a:rPr lang="pt-BR" altLang="zh-CN" dirty="0"/>
              <a:t>r</a:t>
            </a:r>
            <a:r>
              <a:rPr lang="pt-BR" altLang="zh-CN" baseline="-25000" dirty="0"/>
              <a:t>4</a:t>
            </a:r>
            <a:r>
              <a:rPr lang="pt-BR" altLang="zh-CN" dirty="0"/>
              <a:t>=(N,100-200-300,C</a:t>
            </a:r>
            <a:r>
              <a:rPr lang="pt-BR" altLang="zh-CN" b="1" dirty="0">
                <a:solidFill>
                  <a:srgbClr val="FF0000"/>
                </a:solidFill>
                <a:latin typeface="微软雅黑" panose="020B0503020204020204" charset="-122"/>
                <a:ea typeface="微软雅黑" panose="020B0503020204020204" charset="-122"/>
              </a:rPr>
              <a:t>,¬a</a:t>
            </a:r>
            <a:r>
              <a:rPr lang="pt-BR" altLang="zh-CN" b="1" baseline="-25000" dirty="0">
                <a:solidFill>
                  <a:srgbClr val="FF0000"/>
                </a:solidFill>
                <a:latin typeface="微软雅黑" panose="020B0503020204020204" charset="-122"/>
                <a:ea typeface="微软雅黑" panose="020B0503020204020204" charset="-122"/>
              </a:rPr>
              <a:t>1</a:t>
            </a:r>
            <a:r>
              <a:rPr lang="pt-BR" altLang="zh-CN" b="1" dirty="0">
                <a:solidFill>
                  <a:srgbClr val="FF0000"/>
                </a:solidFill>
                <a:latin typeface="微软雅黑" panose="020B0503020204020204" charset="-122"/>
                <a:ea typeface="微软雅黑" panose="020B0503020204020204" charset="-122"/>
              </a:rPr>
              <a:t>∧a</a:t>
            </a:r>
            <a:r>
              <a:rPr lang="pt-BR" altLang="zh-CN" b="1" baseline="-25000" dirty="0">
                <a:solidFill>
                  <a:srgbClr val="FF0000"/>
                </a:solidFill>
                <a:latin typeface="微软雅黑" panose="020B0503020204020204" charset="-122"/>
                <a:ea typeface="微软雅黑" panose="020B0503020204020204" charset="-122"/>
              </a:rPr>
              <a:t>2</a:t>
            </a:r>
            <a:r>
              <a:rPr lang="pt-BR" altLang="zh-CN" b="1" dirty="0">
                <a:solidFill>
                  <a:srgbClr val="FF0000"/>
                </a:solidFill>
                <a:latin typeface="微软雅黑" panose="020B0503020204020204" charset="-122"/>
                <a:ea typeface="微软雅黑" panose="020B0503020204020204" charset="-122"/>
              </a:rPr>
              <a:t>∧a</a:t>
            </a:r>
            <a:r>
              <a:rPr lang="pt-BR" altLang="zh-CN" b="1" baseline="-25000" dirty="0">
                <a:solidFill>
                  <a:srgbClr val="FF0000"/>
                </a:solidFill>
                <a:latin typeface="微软雅黑" panose="020B0503020204020204" charset="-122"/>
                <a:ea typeface="微软雅黑" panose="020B0503020204020204" charset="-122"/>
              </a:rPr>
              <a:t>3</a:t>
            </a:r>
            <a:r>
              <a:rPr lang="pt-BR" altLang="zh-CN" b="1" dirty="0">
                <a:solidFill>
                  <a:srgbClr val="FF0000"/>
                </a:solidFill>
                <a:latin typeface="微软雅黑" panose="020B0503020204020204" charset="-122"/>
                <a:ea typeface="微软雅黑" panose="020B0503020204020204" charset="-122"/>
              </a:rPr>
              <a:t>∧a</a:t>
            </a:r>
            <a:r>
              <a:rPr lang="pt-BR" altLang="zh-CN" b="1" baseline="-25000" dirty="0">
                <a:solidFill>
                  <a:srgbClr val="FF0000"/>
                </a:solidFill>
                <a:latin typeface="微软雅黑" panose="020B0503020204020204" charset="-122"/>
                <a:ea typeface="微软雅黑" panose="020B0503020204020204" charset="-122"/>
              </a:rPr>
              <a:t>4</a:t>
            </a:r>
            <a:r>
              <a:rPr lang="pt-BR" altLang="zh-CN" dirty="0"/>
              <a:t>)</a:t>
            </a:r>
            <a:endParaRPr lang="en-US" altLang="zh-CN" dirty="0"/>
          </a:p>
        </p:txBody>
      </p:sp>
      <p:sp>
        <p:nvSpPr>
          <p:cNvPr id="32" name="椭圆 31"/>
          <p:cNvSpPr/>
          <p:nvPr/>
        </p:nvSpPr>
        <p:spPr>
          <a:xfrm>
            <a:off x="7734158" y="1612006"/>
            <a:ext cx="321809" cy="31288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b="1" dirty="0"/>
              <a:t>6</a:t>
            </a:r>
            <a:endParaRPr lang="zh-CN" altLang="en-US" b="1" dirty="0"/>
          </a:p>
        </p:txBody>
      </p:sp>
      <p:sp>
        <p:nvSpPr>
          <p:cNvPr id="33" name="文本框 32"/>
          <p:cNvSpPr txBox="1"/>
          <p:nvPr/>
        </p:nvSpPr>
        <p:spPr>
          <a:xfrm>
            <a:off x="7315077" y="4093040"/>
            <a:ext cx="1202501" cy="338554"/>
          </a:xfrm>
          <a:prstGeom prst="rect">
            <a:avLst/>
          </a:prstGeom>
          <a:noFill/>
        </p:spPr>
        <p:txBody>
          <a:bodyPr wrap="square" rtlCol="0">
            <a:spAutoFit/>
          </a:bodyPr>
          <a:lstStyle/>
          <a:p>
            <a:r>
              <a:rPr lang="en-US" altLang="zh-CN" sz="1600" dirty="0">
                <a:latin typeface="Arial" panose="020B0604020202020204" pitchFamily="34" charset="0"/>
                <a:cs typeface="Arial" panose="020B0604020202020204" pitchFamily="34" charset="0"/>
              </a:rPr>
              <a:t>C’s RIB</a:t>
            </a:r>
            <a:endParaRPr lang="zh-CN" altLang="en-US" sz="1600" dirty="0">
              <a:latin typeface="Arial" panose="020B0604020202020204" pitchFamily="34" charset="0"/>
              <a:cs typeface="Arial" panose="020B0604020202020204" pitchFamily="34" charset="0"/>
            </a:endParaRPr>
          </a:p>
        </p:txBody>
      </p:sp>
      <p:sp>
        <p:nvSpPr>
          <p:cNvPr id="34" name="文本框 33"/>
          <p:cNvSpPr txBox="1"/>
          <p:nvPr/>
        </p:nvSpPr>
        <p:spPr>
          <a:xfrm>
            <a:off x="7315076" y="4418432"/>
            <a:ext cx="2339862" cy="923330"/>
          </a:xfrm>
          <a:prstGeom prst="rect">
            <a:avLst/>
          </a:prstGeom>
          <a:noFill/>
          <a:ln w="12700">
            <a:solidFill>
              <a:schemeClr val="tx1"/>
            </a:solidFill>
            <a:prstDash val="sysDash"/>
          </a:ln>
        </p:spPr>
        <p:txBody>
          <a:bodyPr wrap="square" rtlCol="0">
            <a:spAutoFit/>
          </a:bodyPr>
          <a:lstStyle>
            <a:defPPr>
              <a:defRPr lang="zh-CN"/>
            </a:defPPr>
            <a:lvl1pPr>
              <a:defRPr>
                <a:latin typeface="Arial" panose="020B0604020202020204" pitchFamily="34" charset="0"/>
                <a:cs typeface="Arial" panose="020B0604020202020204" pitchFamily="34" charset="0"/>
              </a:defRPr>
            </a:lvl1pPr>
          </a:lstStyle>
          <a:p>
            <a:r>
              <a:rPr lang="en-US" altLang="zh-CN" dirty="0"/>
              <a:t>r</a:t>
            </a:r>
            <a:r>
              <a:rPr lang="en-US" altLang="zh-CN" baseline="-25000" dirty="0"/>
              <a:t>1</a:t>
            </a:r>
            <a:r>
              <a:rPr lang="en-US" altLang="zh-CN" dirty="0">
                <a:latin typeface="Arial" panose="020B0604020202020204" pitchFamily="34" charset="0"/>
                <a:cs typeface="Arial" panose="020B0604020202020204" pitchFamily="34" charset="0"/>
              </a:rPr>
              <a:t>=(N,100,A,</a:t>
            </a:r>
            <a:r>
              <a:rPr lang="en-US" altLang="zh-CN" b="1" dirty="0">
                <a:solidFill>
                  <a:srgbClr val="FF0000"/>
                </a:solidFill>
                <a:latin typeface="Arial" panose="020B0604020202020204" pitchFamily="34" charset="0"/>
                <a:cs typeface="Arial" panose="020B0604020202020204" pitchFamily="34" charset="0"/>
              </a:rPr>
              <a:t>a</a:t>
            </a:r>
            <a:r>
              <a:rPr lang="en-US" altLang="zh-CN" b="1" baseline="-25000" dirty="0">
                <a:solidFill>
                  <a:srgbClr val="FF0000"/>
                </a:solidFill>
                <a:latin typeface="Arial" panose="020B0604020202020204" pitchFamily="34" charset="0"/>
                <a:cs typeface="Arial" panose="020B0604020202020204" pitchFamily="34" charset="0"/>
              </a:rPr>
              <a:t>1</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US" altLang="zh-CN" dirty="0"/>
              <a:t>r</a:t>
            </a:r>
            <a:r>
              <a:rPr lang="en-US" altLang="zh-CN" baseline="-25000" dirty="0"/>
              <a:t>2</a:t>
            </a:r>
            <a:r>
              <a:rPr lang="en-US" altLang="zh-CN" dirty="0">
                <a:latin typeface="Arial" panose="020B0604020202020204" pitchFamily="34" charset="0"/>
                <a:cs typeface="Arial" panose="020B0604020202020204" pitchFamily="34" charset="0"/>
              </a:rPr>
              <a:t> =(N,100-200,</a:t>
            </a:r>
            <a:r>
              <a:rPr lang="en-US" altLang="zh-CN" b="1" dirty="0">
                <a:solidFill>
                  <a:srgbClr val="FF0000"/>
                </a:solidFill>
                <a:latin typeface="微软雅黑" panose="020B0503020204020204" charset="-122"/>
                <a:ea typeface="微软雅黑" panose="020B0503020204020204" charset="-122"/>
              </a:rPr>
              <a:t>a</a:t>
            </a:r>
            <a:r>
              <a:rPr lang="en-US" altLang="zh-CN" b="1" baseline="-25000" dirty="0">
                <a:solidFill>
                  <a:srgbClr val="FF0000"/>
                </a:solidFill>
                <a:latin typeface="微软雅黑" panose="020B0503020204020204" charset="-122"/>
                <a:ea typeface="微软雅黑" panose="020B0503020204020204" charset="-122"/>
              </a:rPr>
              <a:t>2</a:t>
            </a:r>
            <a:r>
              <a:rPr lang="en-US" altLang="zh-CN" b="1" dirty="0">
                <a:solidFill>
                  <a:srgbClr val="FF0000"/>
                </a:solidFill>
                <a:latin typeface="微软雅黑" panose="020B0503020204020204" charset="-122"/>
                <a:ea typeface="微软雅黑" panose="020B0503020204020204" charset="-122"/>
              </a:rPr>
              <a:t>∧a</a:t>
            </a:r>
            <a:r>
              <a:rPr lang="en-US" altLang="zh-CN" b="1" baseline="-25000" dirty="0">
                <a:solidFill>
                  <a:srgbClr val="FF0000"/>
                </a:solidFill>
                <a:latin typeface="微软雅黑" panose="020B0503020204020204" charset="-122"/>
                <a:ea typeface="微软雅黑" panose="020B0503020204020204" charset="-122"/>
              </a:rPr>
              <a:t>3</a:t>
            </a:r>
            <a:r>
              <a:rPr lang="en-US" altLang="zh-CN" dirty="0">
                <a:latin typeface="Arial" panose="020B0604020202020204" pitchFamily="34" charset="0"/>
                <a:cs typeface="Arial" panose="020B0604020202020204" pitchFamily="34" charset="0"/>
              </a:rPr>
              <a:t>)</a:t>
            </a:r>
            <a:endParaRPr lang="en-US" altLang="zh-CN" dirty="0"/>
          </a:p>
        </p:txBody>
      </p:sp>
      <p:sp>
        <p:nvSpPr>
          <p:cNvPr id="35" name="椭圆 34"/>
          <p:cNvSpPr/>
          <p:nvPr/>
        </p:nvSpPr>
        <p:spPr>
          <a:xfrm>
            <a:off x="6916895" y="4677239"/>
            <a:ext cx="321809" cy="31288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b="1" dirty="0"/>
              <a:t>4</a:t>
            </a:r>
            <a:endParaRPr lang="zh-CN" altLang="en-US" b="1" dirty="0"/>
          </a:p>
        </p:txBody>
      </p:sp>
      <p:sp>
        <p:nvSpPr>
          <p:cNvPr id="36" name="文本框 35"/>
          <p:cNvSpPr txBox="1"/>
          <p:nvPr/>
        </p:nvSpPr>
        <p:spPr>
          <a:xfrm>
            <a:off x="286570" y="5568056"/>
            <a:ext cx="5043704" cy="1015663"/>
          </a:xfrm>
          <a:prstGeom prst="rect">
            <a:avLst/>
          </a:prstGeom>
          <a:solidFill>
            <a:schemeClr val="bg2"/>
          </a:solidFill>
          <a:ln w="9525">
            <a:noFill/>
          </a:ln>
        </p:spPr>
        <p:txBody>
          <a:bodyPr wrap="square" rtlCol="0">
            <a:spAutoFit/>
          </a:bodyPr>
          <a:lstStyle/>
          <a:p>
            <a:r>
              <a:rPr lang="en-US" altLang="zh-CN" sz="2000" dirty="0">
                <a:latin typeface="Arial" panose="020B0604020202020204" pitchFamily="34" charset="0"/>
                <a:cs typeface="Arial" panose="020B0604020202020204" pitchFamily="34" charset="0"/>
              </a:rPr>
              <a:t>1. Add topo condition in announcements.</a:t>
            </a:r>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2. Store and advertise all routes but not just the best.</a:t>
            </a:r>
            <a:endParaRPr lang="en-US" altLang="zh-CN" sz="2000" dirty="0">
              <a:latin typeface="Arial" panose="020B0604020202020204" pitchFamily="34" charset="0"/>
              <a:cs typeface="Arial" panose="020B0604020202020204" pitchFamily="34" charset="0"/>
            </a:endParaRPr>
          </a:p>
        </p:txBody>
      </p:sp>
      <p:sp>
        <p:nvSpPr>
          <p:cNvPr id="37" name="文本框 36"/>
          <p:cNvSpPr txBox="1"/>
          <p:nvPr/>
        </p:nvSpPr>
        <p:spPr>
          <a:xfrm>
            <a:off x="7315076" y="5311937"/>
            <a:ext cx="3466338" cy="338554"/>
          </a:xfrm>
          <a:prstGeom prst="rect">
            <a:avLst/>
          </a:prstGeom>
          <a:noFill/>
        </p:spPr>
        <p:txBody>
          <a:bodyPr wrap="square" rtlCol="0">
            <a:spAutoFit/>
          </a:bodyPr>
          <a:lstStyle/>
          <a:p>
            <a:r>
              <a:rPr lang="en-US" altLang="zh-CN" sz="1600" dirty="0">
                <a:latin typeface="Arial" panose="020B0604020202020204" pitchFamily="34" charset="0"/>
                <a:cs typeface="Arial" panose="020B0604020202020204" pitchFamily="34" charset="0"/>
              </a:rPr>
              <a:t>C’s Adj-RIB-Out</a:t>
            </a:r>
            <a:endParaRPr lang="zh-CN" altLang="en-US" sz="16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375920" y="928235"/>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20322" y="623068"/>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2" name="文本框 1"/>
          <p:cNvSpPr txBox="1"/>
          <p:nvPr/>
        </p:nvSpPr>
        <p:spPr>
          <a:xfrm>
            <a:off x="410845" y="207499"/>
            <a:ext cx="9203160" cy="1815882"/>
          </a:xfrm>
          <a:prstGeom prst="rect">
            <a:avLst/>
          </a:prstGeom>
          <a:noFill/>
          <a:ln>
            <a:noFill/>
          </a:ln>
        </p:spPr>
        <p:txBody>
          <a:bodyPr wrap="none" rtlCol="0" anchor="t">
            <a:spAutoFit/>
          </a:bodyPr>
          <a:lstStyle/>
          <a:p>
            <a:pPr>
              <a:defRPr/>
            </a:pP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关键技术</a:t>
            </a:r>
            <a:r>
              <a:rPr lang="en-US" altLang="zh-CN" sz="4000" b="1" dirty="0">
                <a:solidFill>
                  <a:srgbClr val="0B479C"/>
                </a:solidFill>
                <a:latin typeface="微软雅黑" panose="020B0503020204020204" charset="-122"/>
                <a:ea typeface="微软雅黑" panose="020B0503020204020204" charset="-122"/>
              </a:rPr>
              <a:t>: </a:t>
            </a:r>
            <a:r>
              <a:rPr lang="zh-CN" altLang="en-US" sz="4000" b="1" dirty="0">
                <a:solidFill>
                  <a:srgbClr val="0B479C"/>
                </a:solidFill>
                <a:latin typeface="微软雅黑" panose="020B0503020204020204" charset="-122"/>
                <a:ea typeface="微软雅黑" panose="020B0503020204020204" charset="-122"/>
              </a:rPr>
              <a:t>实现隐私保护的</a:t>
            </a:r>
            <a:r>
              <a:rPr lang="zh-CN" altLang="en-US" sz="4000" b="1" dirty="0">
                <a:solidFill>
                  <a:srgbClr val="014098"/>
                </a:solidFill>
                <a:latin typeface="微软雅黑" panose="020B0503020204020204" charset="-122"/>
                <a:ea typeface="微软雅黑" panose="020B0503020204020204" charset="-122"/>
                <a:cs typeface="Calibri" panose="020F0502020204030204" charset="0"/>
                <a:sym typeface="+mn-ea"/>
              </a:rPr>
              <a:t>网络验证算法</a:t>
            </a:r>
            <a:endParaRPr lang="zh-CN" altLang="en-US" sz="4000" b="1" dirty="0">
              <a:solidFill>
                <a:srgbClr val="0B479C"/>
              </a:solidFill>
              <a:latin typeface="微软雅黑" panose="020B0503020204020204" charset="-122"/>
              <a:ea typeface="微软雅黑" panose="020B0503020204020204" charset="-122"/>
              <a:sym typeface="+mn-ea"/>
            </a:endParaRPr>
          </a:p>
          <a:p>
            <a:pPr>
              <a:defRPr/>
            </a:pPr>
            <a:endParaRPr lang="en-US" altLang="zh-CN" sz="3600" b="1" dirty="0">
              <a:solidFill>
                <a:srgbClr val="0B479C"/>
              </a:solidFill>
              <a:latin typeface="微软雅黑" panose="020B0503020204020204" charset="-122"/>
              <a:ea typeface="微软雅黑" panose="020B0503020204020204" charset="-122"/>
            </a:endParaRPr>
          </a:p>
          <a:p>
            <a:pPr>
              <a:defRPr/>
            </a:pPr>
            <a:endParaRPr lang="en-US" altLang="zh-CN" sz="3600" b="1" dirty="0">
              <a:solidFill>
                <a:srgbClr val="0B479C"/>
              </a:solidFill>
            </a:endParaRPr>
          </a:p>
        </p:txBody>
      </p:sp>
      <p:sp>
        <p:nvSpPr>
          <p:cNvPr id="7" name="圆角矩形 7"/>
          <p:cNvSpPr/>
          <p:nvPr/>
        </p:nvSpPr>
        <p:spPr>
          <a:xfrm>
            <a:off x="3437256" y="3226963"/>
            <a:ext cx="1771015" cy="98128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800" b="1" dirty="0">
                <a:latin typeface="微软雅黑" panose="020B0503020204020204" charset="-122"/>
                <a:ea typeface="微软雅黑" panose="020B0503020204020204" charset="-122"/>
              </a:rPr>
              <a:t>SMPC</a:t>
            </a:r>
            <a:endParaRPr lang="en-US" altLang="zh-CN" sz="2800" b="1" dirty="0">
              <a:latin typeface="微软雅黑" panose="020B0503020204020204" charset="-122"/>
              <a:ea typeface="微软雅黑" panose="020B0503020204020204" charset="-122"/>
            </a:endParaRPr>
          </a:p>
        </p:txBody>
      </p:sp>
      <p:sp>
        <p:nvSpPr>
          <p:cNvPr id="19" name="圆角矩形 7"/>
          <p:cNvSpPr/>
          <p:nvPr/>
        </p:nvSpPr>
        <p:spPr>
          <a:xfrm>
            <a:off x="416406" y="2264371"/>
            <a:ext cx="2314250" cy="98128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800" b="1" dirty="0">
                <a:latin typeface="微软雅黑" panose="020B0503020204020204" charset="-122"/>
                <a:ea typeface="微软雅黑" panose="020B0503020204020204" charset="-122"/>
              </a:rPr>
              <a:t>SMPC</a:t>
            </a:r>
            <a:endParaRPr lang="en-US" altLang="zh-CN" sz="2800" b="1" dirty="0">
              <a:latin typeface="微软雅黑" panose="020B0503020204020204" charset="-122"/>
              <a:ea typeface="微软雅黑" panose="020B0503020204020204" charset="-122"/>
            </a:endParaRPr>
          </a:p>
          <a:p>
            <a:pPr algn="ctr"/>
            <a:r>
              <a:rPr lang="zh-CN" altLang="en-US" sz="2800" b="1" dirty="0">
                <a:latin typeface="微软雅黑" panose="020B0503020204020204" charset="-122"/>
                <a:ea typeface="微软雅黑" panose="020B0503020204020204" charset="-122"/>
              </a:rPr>
              <a:t>原语</a:t>
            </a:r>
            <a:endParaRPr lang="en-US" altLang="zh-CN" sz="2800" b="1" dirty="0">
              <a:latin typeface="微软雅黑" panose="020B0503020204020204" charset="-122"/>
              <a:ea typeface="微软雅黑" panose="020B0503020204020204" charset="-122"/>
            </a:endParaRPr>
          </a:p>
        </p:txBody>
      </p:sp>
      <p:sp>
        <p:nvSpPr>
          <p:cNvPr id="20" name="圆角矩形 7"/>
          <p:cNvSpPr/>
          <p:nvPr/>
        </p:nvSpPr>
        <p:spPr>
          <a:xfrm>
            <a:off x="410845" y="4021455"/>
            <a:ext cx="2319655" cy="9810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b="1" dirty="0">
                <a:latin typeface="微软雅黑" panose="020B0503020204020204" charset="-122"/>
                <a:ea typeface="微软雅黑" panose="020B0503020204020204" charset="-122"/>
              </a:rPr>
              <a:t>数据遗忘性质</a:t>
            </a:r>
            <a:endParaRPr lang="en-US" altLang="zh-CN" sz="2800" b="1" dirty="0">
              <a:latin typeface="微软雅黑" panose="020B0503020204020204" charset="-122"/>
              <a:ea typeface="微软雅黑" panose="020B0503020204020204" charset="-122"/>
            </a:endParaRPr>
          </a:p>
        </p:txBody>
      </p:sp>
      <p:sp>
        <p:nvSpPr>
          <p:cNvPr id="22" name="右大括号 21"/>
          <p:cNvSpPr/>
          <p:nvPr/>
        </p:nvSpPr>
        <p:spPr>
          <a:xfrm>
            <a:off x="2842261" y="2646151"/>
            <a:ext cx="377190" cy="214291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3" name="文本框 22"/>
          <p:cNvSpPr txBox="1"/>
          <p:nvPr/>
        </p:nvSpPr>
        <p:spPr>
          <a:xfrm>
            <a:off x="6245860" y="1687830"/>
            <a:ext cx="5702300" cy="3785652"/>
          </a:xfrm>
          <a:prstGeom prst="rect">
            <a:avLst/>
          </a:prstGeom>
          <a:noFill/>
        </p:spPr>
        <p:txBody>
          <a:bodyPr wrap="square" rtlCol="0">
            <a:spAutoFit/>
          </a:bodyPr>
          <a:lstStyle/>
          <a:p>
            <a:r>
              <a:rPr lang="en-US" altLang="zh-CN" sz="2400" b="1" dirty="0">
                <a:latin typeface="微软雅黑" panose="020B0503020204020204" charset="-122"/>
                <a:ea typeface="微软雅黑" panose="020B0503020204020204" charset="-122"/>
              </a:rPr>
              <a:t>SMPC</a:t>
            </a:r>
            <a:r>
              <a:rPr lang="zh-CN" altLang="en-US" sz="2400" b="1" dirty="0">
                <a:latin typeface="微软雅黑" panose="020B0503020204020204" charset="-122"/>
                <a:ea typeface="微软雅黑" panose="020B0503020204020204" charset="-122"/>
              </a:rPr>
              <a:t>原语</a:t>
            </a:r>
            <a:r>
              <a:rPr lang="en-US" altLang="zh-CN" sz="2400" b="1" dirty="0"/>
              <a:t>: </a:t>
            </a:r>
            <a:endParaRPr lang="en-US" altLang="zh-CN" sz="2400" b="1" dirty="0"/>
          </a:p>
          <a:p>
            <a:pPr marL="342900" indent="-342900">
              <a:buFont typeface="Arial" panose="020B0604020202020204" pitchFamily="34" charset="0"/>
              <a:buChar char="•"/>
            </a:pPr>
            <a:r>
              <a:rPr lang="zh-CN" altLang="en-US" sz="2400" dirty="0">
                <a:latin typeface="微软雅黑" panose="020B0503020204020204" charset="-122"/>
                <a:ea typeface="微软雅黑" panose="020B0503020204020204" charset="-122"/>
              </a:rPr>
              <a:t>本研究计划采用基于</a:t>
            </a:r>
            <a:r>
              <a:rPr lang="en-US" altLang="zh-CN" sz="2400" dirty="0">
                <a:latin typeface="微软雅黑" panose="020B0503020204020204" charset="-122"/>
                <a:ea typeface="微软雅黑" panose="020B0503020204020204" charset="-122"/>
              </a:rPr>
              <a:t>Shamir</a:t>
            </a:r>
            <a:r>
              <a:rPr lang="zh-CN" altLang="en-US" sz="2400" dirty="0">
                <a:latin typeface="微软雅黑" panose="020B0503020204020204" charset="-122"/>
                <a:ea typeface="微软雅黑" panose="020B0503020204020204" charset="-122"/>
              </a:rPr>
              <a:t>秘密分享实现的𝑛方</a:t>
            </a:r>
            <a:r>
              <a:rPr lang="en-US" altLang="zh-CN" sz="2400" dirty="0">
                <a:latin typeface="微软雅黑" panose="020B0503020204020204" charset="-122"/>
                <a:ea typeface="微软雅黑" panose="020B0503020204020204" charset="-122"/>
              </a:rPr>
              <a:t>SMPC</a:t>
            </a:r>
            <a:r>
              <a:rPr lang="zh-CN" altLang="en-US" sz="2400" dirty="0">
                <a:latin typeface="微软雅黑" panose="020B0503020204020204" charset="-122"/>
                <a:ea typeface="微软雅黑" panose="020B0503020204020204" charset="-122"/>
              </a:rPr>
              <a:t>原语，例如加、乘、比较等操作来构建隐私保护的路由协议模拟算法。</a:t>
            </a:r>
            <a:endParaRPr lang="en-US" altLang="zh-CN" sz="2400" b="1" dirty="0">
              <a:latin typeface="微软雅黑" panose="020B0503020204020204" charset="-122"/>
              <a:ea typeface="微软雅黑" panose="020B0503020204020204" charset="-122"/>
            </a:endParaRPr>
          </a:p>
          <a:p>
            <a:r>
              <a:rPr lang="zh-CN" altLang="en-US" sz="2400" b="1" dirty="0">
                <a:latin typeface="微软雅黑" panose="020B0503020204020204" charset="-122"/>
                <a:ea typeface="微软雅黑" panose="020B0503020204020204" charset="-122"/>
              </a:rPr>
              <a:t>数据遗忘性质</a:t>
            </a:r>
            <a:r>
              <a:rPr lang="en-US" altLang="zh-CN" sz="2400" b="1" dirty="0">
                <a:latin typeface="微软雅黑" panose="020B0503020204020204" charset="-122"/>
                <a:ea typeface="微软雅黑" panose="020B0503020204020204" charset="-122"/>
              </a:rPr>
              <a:t>: </a:t>
            </a:r>
            <a:endParaRPr lang="en-US" altLang="zh-CN" sz="2400" b="1" dirty="0">
              <a:latin typeface="微软雅黑" panose="020B0503020204020204" charset="-122"/>
              <a:ea typeface="微软雅黑" panose="020B0503020204020204" charset="-122"/>
            </a:endParaRPr>
          </a:p>
          <a:p>
            <a:pPr marL="342900" indent="-342900">
              <a:buFont typeface="Arial" panose="020B0604020202020204" pitchFamily="34" charset="0"/>
              <a:buChar char="•"/>
            </a:pPr>
            <a:r>
              <a:rPr lang="zh-CN" altLang="en-US" sz="2400" dirty="0">
                <a:latin typeface="微软雅黑" panose="020B0503020204020204" charset="-122"/>
                <a:ea typeface="微软雅黑" panose="020B0503020204020204" charset="-122"/>
              </a:rPr>
              <a:t>将输入编码为数据遗忘的数据结构</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例如矩阵与向量</a:t>
            </a:r>
            <a:r>
              <a:rPr lang="en-US"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342900" indent="-342900">
              <a:buFont typeface="Arial" panose="020B0604020202020204" pitchFamily="34" charset="0"/>
              <a:buChar char="•"/>
            </a:pPr>
            <a:r>
              <a:rPr lang="zh-CN" altLang="en-US" sz="2400" dirty="0">
                <a:latin typeface="微软雅黑" panose="020B0503020204020204" charset="-122"/>
                <a:ea typeface="微软雅黑" panose="020B0503020204020204" charset="-122"/>
              </a:rPr>
              <a:t>对于分支结构语句，执行其所有分支以隐藏其执行序列</a:t>
            </a:r>
            <a:r>
              <a:rPr lang="en-US" altLang="zh-CN" sz="2400" dirty="0">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p:txBody>
      </p:sp>
      <p:sp>
        <p:nvSpPr>
          <p:cNvPr id="25" name="文本框 24"/>
          <p:cNvSpPr txBox="1"/>
          <p:nvPr/>
        </p:nvSpPr>
        <p:spPr>
          <a:xfrm>
            <a:off x="57785" y="6452890"/>
            <a:ext cx="11529221" cy="338554"/>
          </a:xfrm>
          <a:prstGeom prst="rect">
            <a:avLst/>
          </a:prstGeom>
          <a:noFill/>
        </p:spPr>
        <p:txBody>
          <a:bodyPr wrap="square" rtlCol="0">
            <a:spAutoFit/>
          </a:bodyPr>
          <a:lstStyle/>
          <a:p>
            <a:r>
              <a:rPr lang="en-US" altLang="zh-CN" sz="1600" dirty="0"/>
              <a:t>[2] S. </a:t>
            </a:r>
            <a:r>
              <a:rPr lang="en-US" altLang="zh-CN" sz="1600" dirty="0" err="1"/>
              <a:t>Dov</a:t>
            </a:r>
            <a:r>
              <a:rPr lang="en-US" altLang="zh-CN" sz="1600" dirty="0"/>
              <a:t> Gordon, Jonathan Katz. et al. 2012. Secure Two-Party Computation in Sublinear (Amortized) Time. In CCS ’12. ACM, 513–524. </a:t>
            </a:r>
            <a:endParaRPr lang="zh-CN" altLang="en-US" sz="1600" dirty="0"/>
          </a:p>
        </p:txBody>
      </p:sp>
      <p:sp>
        <p:nvSpPr>
          <p:cNvPr id="26" name="文本框 25"/>
          <p:cNvSpPr txBox="1"/>
          <p:nvPr/>
        </p:nvSpPr>
        <p:spPr>
          <a:xfrm>
            <a:off x="604993" y="5252561"/>
            <a:ext cx="4474535" cy="1200329"/>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一个基于</a:t>
            </a:r>
            <a:r>
              <a:rPr lang="en-US" altLang="zh-CN" b="1" dirty="0">
                <a:latin typeface="微软雅黑" panose="020B0503020204020204" charset="-122"/>
                <a:ea typeface="微软雅黑" panose="020B0503020204020204" charset="-122"/>
              </a:rPr>
              <a:t>SMPC</a:t>
            </a:r>
            <a:r>
              <a:rPr lang="zh-CN" altLang="en-US" b="1" dirty="0">
                <a:latin typeface="微软雅黑" panose="020B0503020204020204" charset="-122"/>
                <a:ea typeface="微软雅黑" panose="020B0503020204020204" charset="-122"/>
              </a:rPr>
              <a:t>原语构建的数据遗忘算法即可被称为</a:t>
            </a:r>
            <a:r>
              <a:rPr lang="en-US" altLang="zh-CN" b="1" dirty="0">
                <a:latin typeface="微软雅黑" panose="020B0503020204020204" charset="-122"/>
                <a:ea typeface="微软雅黑" panose="020B0503020204020204" charset="-122"/>
              </a:rPr>
              <a:t>SMPC [2]</a:t>
            </a:r>
            <a:r>
              <a:rPr lang="zh-CN" altLang="en-US" b="1" dirty="0">
                <a:latin typeface="微软雅黑" panose="020B0503020204020204" charset="-122"/>
                <a:ea typeface="微软雅黑" panose="020B0503020204020204" charset="-122"/>
              </a:rPr>
              <a:t>。</a:t>
            </a:r>
            <a:endParaRPr lang="en-US" altLang="zh-CN" b="1" dirty="0">
              <a:latin typeface="微软雅黑" panose="020B0503020204020204" charset="-122"/>
              <a:ea typeface="微软雅黑" panose="020B0503020204020204" charset="-122"/>
            </a:endParaRPr>
          </a:p>
          <a:p>
            <a:pPr algn="ctr"/>
            <a:r>
              <a:rPr lang="en-US" altLang="zh-CN" b="1" dirty="0"/>
              <a:t> </a:t>
            </a:r>
            <a:endParaRPr lang="en-US" altLang="zh-CN" b="1" dirty="0"/>
          </a:p>
          <a:p>
            <a:r>
              <a:rPr lang="en-US" altLang="zh-CN" b="1" dirty="0"/>
              <a:t> </a:t>
            </a:r>
            <a:r>
              <a:rPr lang="en-US" altLang="zh-CN" dirty="0"/>
              <a:t> </a:t>
            </a:r>
            <a:endParaRPr lang="zh-CN" altLang="en-US" dirty="0"/>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2" fill="hold" nodeType="afterEffect">
                                  <p:stCondLst>
                                    <p:cond delay="0"/>
                                  </p:stCondLst>
                                  <p:childTnLst>
                                    <p:animClr clrSpc="rgb" dir="cw">
                                      <p:cBhvr>
                                        <p:cTn id="6" dur="500" fill="hold"/>
                                        <p:tgtEl>
                                          <p:spTgt spid="7"/>
                                        </p:tgtEl>
                                        <p:attrNameLst>
                                          <p:attrName>fillcolor</p:attrName>
                                        </p:attrNameLst>
                                      </p:cBhvr>
                                      <p:to>
                                        <a:srgbClr val="F1985D"/>
                                      </p:to>
                                    </p:animClr>
                                    <p:set>
                                      <p:cBhvr>
                                        <p:cTn id="7" dur="500" fill="hold"/>
                                        <p:tgtEl>
                                          <p:spTgt spid="7"/>
                                        </p:tgtEl>
                                        <p:attrNameLst>
                                          <p:attrName>fill.type</p:attrName>
                                        </p:attrNameLst>
                                      </p:cBhvr>
                                      <p:to>
                                        <p:strVal val="solid"/>
                                      </p:to>
                                    </p:set>
                                    <p:set>
                                      <p:cBhvr>
                                        <p:cTn id="8" dur="500" fill="hold"/>
                                        <p:tgtEl>
                                          <p:spTgt spid="7"/>
                                        </p:tgtEl>
                                        <p:attrNameLst>
                                          <p:attrName>fill.on</p:attrName>
                                        </p:attrNameLst>
                                      </p:cBhvr>
                                      <p:to>
                                        <p:strVal val="true"/>
                                      </p:to>
                                    </p:set>
                                  </p:childTnLst>
                                </p:cTn>
                              </p:par>
                            </p:childTnLst>
                          </p:cTn>
                        </p:par>
                        <p:par>
                          <p:cTn id="9" fill="hold">
                            <p:stCondLst>
                              <p:cond delay="500"/>
                            </p:stCondLst>
                            <p:childTnLst>
                              <p:par>
                                <p:cTn id="10" presetID="1" presetClass="emph" presetSubtype="2" fill="hold" nodeType="afterEffect">
                                  <p:stCondLst>
                                    <p:cond delay="0"/>
                                  </p:stCondLst>
                                  <p:childTnLst>
                                    <p:animClr clrSpc="rgb" dir="cw">
                                      <p:cBhvr>
                                        <p:cTn id="11" dur="500" fill="hold"/>
                                        <p:tgtEl>
                                          <p:spTgt spid="19"/>
                                        </p:tgtEl>
                                        <p:attrNameLst>
                                          <p:attrName>fillcolor</p:attrName>
                                        </p:attrNameLst>
                                      </p:cBhvr>
                                      <p:to>
                                        <a:srgbClr val="F1985D"/>
                                      </p:to>
                                    </p:animClr>
                                    <p:set>
                                      <p:cBhvr>
                                        <p:cTn id="12" dur="500" fill="hold"/>
                                        <p:tgtEl>
                                          <p:spTgt spid="19"/>
                                        </p:tgtEl>
                                        <p:attrNameLst>
                                          <p:attrName>fill.type</p:attrName>
                                        </p:attrNameLst>
                                      </p:cBhvr>
                                      <p:to>
                                        <p:strVal val="solid"/>
                                      </p:to>
                                    </p:set>
                                    <p:set>
                                      <p:cBhvr>
                                        <p:cTn id="13" dur="500" fill="hold"/>
                                        <p:tgtEl>
                                          <p:spTgt spid="19"/>
                                        </p:tgtEl>
                                        <p:attrNameLst>
                                          <p:attrName>fill.on</p:attrName>
                                        </p:attrNameLst>
                                      </p:cBhvr>
                                      <p:to>
                                        <p:strVal val="true"/>
                                      </p:to>
                                    </p:set>
                                  </p:childTnLst>
                                </p:cTn>
                              </p:par>
                            </p:childTnLst>
                          </p:cTn>
                        </p:par>
                        <p:par>
                          <p:cTn id="14" fill="hold">
                            <p:stCondLst>
                              <p:cond delay="1000"/>
                            </p:stCondLst>
                            <p:childTnLst>
                              <p:par>
                                <p:cTn id="15" presetID="1" presetClass="emph" presetSubtype="2" fill="hold" nodeType="afterEffect">
                                  <p:stCondLst>
                                    <p:cond delay="0"/>
                                  </p:stCondLst>
                                  <p:childTnLst>
                                    <p:animClr clrSpc="rgb" dir="cw">
                                      <p:cBhvr>
                                        <p:cTn id="16" dur="500" fill="hold"/>
                                        <p:tgtEl>
                                          <p:spTgt spid="20"/>
                                        </p:tgtEl>
                                        <p:attrNameLst>
                                          <p:attrName>fillcolor</p:attrName>
                                        </p:attrNameLst>
                                      </p:cBhvr>
                                      <p:to>
                                        <a:srgbClr val="F1985D"/>
                                      </p:to>
                                    </p:animClr>
                                    <p:set>
                                      <p:cBhvr>
                                        <p:cTn id="17" dur="500" fill="hold"/>
                                        <p:tgtEl>
                                          <p:spTgt spid="20"/>
                                        </p:tgtEl>
                                        <p:attrNameLst>
                                          <p:attrName>fill.type</p:attrName>
                                        </p:attrNameLst>
                                      </p:cBhvr>
                                      <p:to>
                                        <p:strVal val="solid"/>
                                      </p:to>
                                    </p:set>
                                    <p:set>
                                      <p:cBhvr>
                                        <p:cTn id="18" dur="500" fill="hold"/>
                                        <p:tgtEl>
                                          <p:spTgt spid="2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8612835" y="740322"/>
            <a:ext cx="848005" cy="461665"/>
          </a:xfrm>
          <a:prstGeom prst="rect">
            <a:avLst/>
          </a:prstGeom>
          <a:noFill/>
        </p:spPr>
        <p:txBody>
          <a:bodyPr wrap="square" rtlCol="0">
            <a:spAutoFit/>
          </a:bodyPr>
          <a:lstStyle/>
          <a:p>
            <a:r>
              <a:rPr kumimoji="1" lang="en-US" altLang="zh-CN" sz="2400" b="1"/>
              <a:t>E</a:t>
            </a:r>
            <a:endParaRPr kumimoji="1" lang="zh-CN" altLang="en-US" sz="2400" b="1"/>
          </a:p>
        </p:txBody>
      </p:sp>
      <p:sp>
        <p:nvSpPr>
          <p:cNvPr id="46" name="文本框 45"/>
          <p:cNvSpPr txBox="1"/>
          <p:nvPr/>
        </p:nvSpPr>
        <p:spPr>
          <a:xfrm>
            <a:off x="6867381" y="743296"/>
            <a:ext cx="848005" cy="461665"/>
          </a:xfrm>
          <a:prstGeom prst="rect">
            <a:avLst/>
          </a:prstGeom>
          <a:noFill/>
        </p:spPr>
        <p:txBody>
          <a:bodyPr wrap="square" rtlCol="0">
            <a:spAutoFit/>
          </a:bodyPr>
          <a:lstStyle/>
          <a:p>
            <a:r>
              <a:rPr kumimoji="1" lang="en-US" altLang="zh-CN" sz="2400" b="1"/>
              <a:t>D</a:t>
            </a:r>
            <a:endParaRPr kumimoji="1" lang="zh-CN" altLang="en-US" sz="2400" b="1"/>
          </a:p>
        </p:txBody>
      </p:sp>
      <p:sp>
        <p:nvSpPr>
          <p:cNvPr id="47" name="文本框 46"/>
          <p:cNvSpPr txBox="1"/>
          <p:nvPr/>
        </p:nvSpPr>
        <p:spPr>
          <a:xfrm>
            <a:off x="5862400" y="2139785"/>
            <a:ext cx="848005" cy="461665"/>
          </a:xfrm>
          <a:prstGeom prst="rect">
            <a:avLst/>
          </a:prstGeom>
          <a:noFill/>
        </p:spPr>
        <p:txBody>
          <a:bodyPr wrap="square" rtlCol="0">
            <a:spAutoFit/>
          </a:bodyPr>
          <a:lstStyle/>
          <a:p>
            <a:r>
              <a:rPr kumimoji="1" lang="en-US" altLang="zh-CN" sz="2400" b="1"/>
              <a:t>C</a:t>
            </a:r>
            <a:endParaRPr kumimoji="1" lang="zh-CN" altLang="en-US" sz="2400" b="1"/>
          </a:p>
        </p:txBody>
      </p:sp>
      <p:sp>
        <p:nvSpPr>
          <p:cNvPr id="40" name="文本框 39"/>
          <p:cNvSpPr txBox="1"/>
          <p:nvPr/>
        </p:nvSpPr>
        <p:spPr>
          <a:xfrm>
            <a:off x="4844575" y="736523"/>
            <a:ext cx="848005" cy="461665"/>
          </a:xfrm>
          <a:prstGeom prst="rect">
            <a:avLst/>
          </a:prstGeom>
          <a:noFill/>
        </p:spPr>
        <p:txBody>
          <a:bodyPr wrap="square" rtlCol="0">
            <a:spAutoFit/>
          </a:bodyPr>
          <a:lstStyle/>
          <a:p>
            <a:r>
              <a:rPr kumimoji="1" lang="en-US" altLang="zh-CN" sz="2400" b="1"/>
              <a:t>B</a:t>
            </a:r>
            <a:endParaRPr kumimoji="1" lang="zh-CN" altLang="en-US" sz="2400" b="1"/>
          </a:p>
        </p:txBody>
      </p:sp>
      <p:sp>
        <p:nvSpPr>
          <p:cNvPr id="33" name="文本框 32"/>
          <p:cNvSpPr txBox="1"/>
          <p:nvPr/>
        </p:nvSpPr>
        <p:spPr>
          <a:xfrm>
            <a:off x="2073265" y="786720"/>
            <a:ext cx="1935402" cy="461665"/>
          </a:xfrm>
          <a:prstGeom prst="rect">
            <a:avLst/>
          </a:prstGeom>
          <a:noFill/>
        </p:spPr>
        <p:txBody>
          <a:bodyPr wrap="square" rtlCol="0">
            <a:spAutoFit/>
          </a:bodyPr>
          <a:lstStyle/>
          <a:p>
            <a:r>
              <a:rPr kumimoji="1" lang="en-US" altLang="zh-CN" sz="2400" b="1" dirty="0"/>
              <a:t>AS</a:t>
            </a:r>
            <a:r>
              <a:rPr kumimoji="1" lang="zh-CN" altLang="en-US" sz="2400" b="1" dirty="0"/>
              <a:t>的代理</a:t>
            </a:r>
            <a:endParaRPr kumimoji="1" lang="zh-CN" altLang="en-US" sz="2400" b="1" dirty="0"/>
          </a:p>
        </p:txBody>
      </p:sp>
      <p:grpSp>
        <p:nvGrpSpPr>
          <p:cNvPr id="1032" name="组合 1031"/>
          <p:cNvGrpSpPr/>
          <p:nvPr/>
        </p:nvGrpSpPr>
        <p:grpSpPr>
          <a:xfrm>
            <a:off x="2323371" y="1084971"/>
            <a:ext cx="7399915" cy="2579368"/>
            <a:chOff x="2291642" y="947619"/>
            <a:chExt cx="7399915" cy="2579368"/>
          </a:xfrm>
        </p:grpSpPr>
        <p:cxnSp>
          <p:nvCxnSpPr>
            <p:cNvPr id="34" name="直接连接符 100"/>
            <p:cNvCxnSpPr/>
            <p:nvPr/>
          </p:nvCxnSpPr>
          <p:spPr>
            <a:xfrm>
              <a:off x="3348681" y="1665742"/>
              <a:ext cx="123567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35" name="直接连接符 100"/>
            <p:cNvCxnSpPr/>
            <p:nvPr/>
          </p:nvCxnSpPr>
          <p:spPr>
            <a:xfrm>
              <a:off x="5285348" y="1665742"/>
              <a:ext cx="1323975"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36" name="直接连接符 100"/>
            <p:cNvCxnSpPr/>
            <p:nvPr/>
          </p:nvCxnSpPr>
          <p:spPr>
            <a:xfrm>
              <a:off x="7376984" y="1665742"/>
              <a:ext cx="123361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37" name="直接连接符 100"/>
            <p:cNvCxnSpPr/>
            <p:nvPr/>
          </p:nvCxnSpPr>
          <p:spPr>
            <a:xfrm flipV="1">
              <a:off x="6534178" y="2068967"/>
              <a:ext cx="2384671" cy="813178"/>
            </a:xfrm>
            <a:prstGeom prst="line">
              <a:avLst/>
            </a:prstGeom>
            <a:ln w="38100"/>
          </p:spPr>
          <p:style>
            <a:lnRef idx="3">
              <a:schemeClr val="dk1"/>
            </a:lnRef>
            <a:fillRef idx="0">
              <a:schemeClr val="dk1"/>
            </a:fillRef>
            <a:effectRef idx="2">
              <a:schemeClr val="dk1"/>
            </a:effectRef>
            <a:fontRef idx="minor">
              <a:schemeClr val="tx1"/>
            </a:fontRef>
          </p:style>
        </p:cxnSp>
        <p:cxnSp>
          <p:nvCxnSpPr>
            <p:cNvPr id="38" name="直接连接符 100"/>
            <p:cNvCxnSpPr/>
            <p:nvPr/>
          </p:nvCxnSpPr>
          <p:spPr>
            <a:xfrm flipV="1">
              <a:off x="6490288" y="2068967"/>
              <a:ext cx="535817" cy="813178"/>
            </a:xfrm>
            <a:prstGeom prst="line">
              <a:avLst/>
            </a:prstGeom>
            <a:ln w="38100"/>
          </p:spPr>
          <p:style>
            <a:lnRef idx="3">
              <a:schemeClr val="dk1"/>
            </a:lnRef>
            <a:fillRef idx="0">
              <a:schemeClr val="dk1"/>
            </a:fillRef>
            <a:effectRef idx="2">
              <a:schemeClr val="dk1"/>
            </a:effectRef>
            <a:fontRef idx="minor">
              <a:schemeClr val="tx1"/>
            </a:fontRef>
          </p:style>
        </p:cxnSp>
        <p:cxnSp>
          <p:nvCxnSpPr>
            <p:cNvPr id="39" name="直接连接符 100"/>
            <p:cNvCxnSpPr/>
            <p:nvPr/>
          </p:nvCxnSpPr>
          <p:spPr>
            <a:xfrm flipH="1" flipV="1">
              <a:off x="5020553" y="2068967"/>
              <a:ext cx="693293" cy="886459"/>
            </a:xfrm>
            <a:prstGeom prst="line">
              <a:avLst/>
            </a:prstGeom>
            <a:ln w="38100"/>
          </p:spPr>
          <p:style>
            <a:lnRef idx="3">
              <a:schemeClr val="dk1"/>
            </a:lnRef>
            <a:fillRef idx="0">
              <a:schemeClr val="dk1"/>
            </a:fillRef>
            <a:effectRef idx="2">
              <a:schemeClr val="dk1"/>
            </a:effectRef>
            <a:fontRef idx="minor">
              <a:schemeClr val="tx1"/>
            </a:fontRef>
          </p:style>
        </p:cxnSp>
        <p:pic>
          <p:nvPicPr>
            <p:cNvPr id="1026" name="Picture 2" descr="Desktop, pc, server icon - Free download on Iconfinde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91642" y="952382"/>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Desktop, pc, server icon - Free download on Iconfinde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05127" y="952773"/>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Desktop, pc, server icon - Free download on Iconfinde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44528" y="947619"/>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Desktop, pc, server icon - Free download on Iconfinde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401873" y="947619"/>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Desktop, pc, server icon - Free download on Iconfinde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475410" y="2237303"/>
              <a:ext cx="1289684" cy="128968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27" name="直接箭头连接符 40"/>
          <p:cNvCxnSpPr/>
          <p:nvPr/>
        </p:nvCxnSpPr>
        <p:spPr>
          <a:xfrm flipV="1">
            <a:off x="8918849" y="2346703"/>
            <a:ext cx="0" cy="2164594"/>
          </a:xfrm>
          <a:prstGeom prst="straightConnector1">
            <a:avLst/>
          </a:prstGeom>
          <a:ln w="38100">
            <a:solidFill>
              <a:schemeClr val="accent1">
                <a:lumMod val="75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24" name="直接箭头连接符 40"/>
          <p:cNvCxnSpPr/>
          <p:nvPr/>
        </p:nvCxnSpPr>
        <p:spPr>
          <a:xfrm flipV="1">
            <a:off x="6096000" y="3768811"/>
            <a:ext cx="0" cy="1963651"/>
          </a:xfrm>
          <a:prstGeom prst="straightConnector1">
            <a:avLst/>
          </a:prstGeom>
          <a:ln w="38100">
            <a:solidFill>
              <a:schemeClr val="accent1">
                <a:lumMod val="75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40"/>
          <p:cNvCxnSpPr>
            <a:stCxn id="3" idx="0"/>
          </p:cNvCxnSpPr>
          <p:nvPr/>
        </p:nvCxnSpPr>
        <p:spPr>
          <a:xfrm flipV="1">
            <a:off x="3015001" y="2346703"/>
            <a:ext cx="0" cy="2164594"/>
          </a:xfrm>
          <a:prstGeom prst="straightConnector1">
            <a:avLst/>
          </a:prstGeom>
          <a:ln w="38100">
            <a:solidFill>
              <a:schemeClr val="accent1">
                <a:lumMod val="75000"/>
              </a:schemeClr>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3" name="图片 2" descr="Router"/>
          <p:cNvPicPr>
            <a:picLocks noChangeAspect="1"/>
          </p:cNvPicPr>
          <p:nvPr/>
        </p:nvPicPr>
        <p:blipFill>
          <a:blip r:embed="rId2"/>
          <a:stretch>
            <a:fillRect/>
          </a:stretch>
        </p:blipFill>
        <p:spPr>
          <a:xfrm>
            <a:off x="2485411" y="4511297"/>
            <a:ext cx="1059180" cy="806450"/>
          </a:xfrm>
          <a:prstGeom prst="rect">
            <a:avLst/>
          </a:prstGeom>
        </p:spPr>
      </p:pic>
      <p:pic>
        <p:nvPicPr>
          <p:cNvPr id="4" name="图片 3" descr="Router"/>
          <p:cNvPicPr>
            <a:picLocks noChangeAspect="1"/>
          </p:cNvPicPr>
          <p:nvPr/>
        </p:nvPicPr>
        <p:blipFill>
          <a:blip r:embed="rId2"/>
          <a:stretch>
            <a:fillRect/>
          </a:stretch>
        </p:blipFill>
        <p:spPr>
          <a:xfrm>
            <a:off x="5550143" y="5732462"/>
            <a:ext cx="1059180" cy="806450"/>
          </a:xfrm>
          <a:prstGeom prst="rect">
            <a:avLst/>
          </a:prstGeom>
        </p:spPr>
      </p:pic>
      <p:pic>
        <p:nvPicPr>
          <p:cNvPr id="5" name="图片 4" descr="Router"/>
          <p:cNvPicPr>
            <a:picLocks noChangeAspect="1"/>
          </p:cNvPicPr>
          <p:nvPr/>
        </p:nvPicPr>
        <p:blipFill>
          <a:blip r:embed="rId2"/>
          <a:stretch>
            <a:fillRect/>
          </a:stretch>
        </p:blipFill>
        <p:spPr>
          <a:xfrm>
            <a:off x="4490963" y="4511297"/>
            <a:ext cx="1059180" cy="806450"/>
          </a:xfrm>
          <a:prstGeom prst="rect">
            <a:avLst/>
          </a:prstGeom>
        </p:spPr>
      </p:pic>
      <p:pic>
        <p:nvPicPr>
          <p:cNvPr id="6" name="图片 5" descr="Router"/>
          <p:cNvPicPr>
            <a:picLocks noChangeAspect="1"/>
          </p:cNvPicPr>
          <p:nvPr/>
        </p:nvPicPr>
        <p:blipFill>
          <a:blip r:embed="rId2"/>
          <a:stretch>
            <a:fillRect/>
          </a:stretch>
        </p:blipFill>
        <p:spPr>
          <a:xfrm>
            <a:off x="6496515" y="4511297"/>
            <a:ext cx="1059180" cy="806450"/>
          </a:xfrm>
          <a:prstGeom prst="rect">
            <a:avLst/>
          </a:prstGeom>
        </p:spPr>
      </p:pic>
      <p:pic>
        <p:nvPicPr>
          <p:cNvPr id="7" name="图片 6" descr="Router"/>
          <p:cNvPicPr>
            <a:picLocks noChangeAspect="1"/>
          </p:cNvPicPr>
          <p:nvPr/>
        </p:nvPicPr>
        <p:blipFill>
          <a:blip r:embed="rId2"/>
          <a:stretch>
            <a:fillRect/>
          </a:stretch>
        </p:blipFill>
        <p:spPr>
          <a:xfrm>
            <a:off x="8389259" y="4511297"/>
            <a:ext cx="1059180" cy="806450"/>
          </a:xfrm>
          <a:prstGeom prst="rect">
            <a:avLst/>
          </a:prstGeom>
        </p:spPr>
      </p:pic>
      <p:cxnSp>
        <p:nvCxnSpPr>
          <p:cNvPr id="8" name="直接连接符 100"/>
          <p:cNvCxnSpPr>
            <a:stCxn id="3" idx="3"/>
            <a:endCxn id="5" idx="1"/>
          </p:cNvCxnSpPr>
          <p:nvPr/>
        </p:nvCxnSpPr>
        <p:spPr>
          <a:xfrm>
            <a:off x="3544591" y="4914522"/>
            <a:ext cx="946372"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1" name="直接连接符 100"/>
          <p:cNvCxnSpPr>
            <a:stCxn id="5" idx="3"/>
            <a:endCxn id="6" idx="1"/>
          </p:cNvCxnSpPr>
          <p:nvPr/>
        </p:nvCxnSpPr>
        <p:spPr>
          <a:xfrm>
            <a:off x="5550143" y="4914522"/>
            <a:ext cx="946372"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4" name="直接连接符 100"/>
          <p:cNvCxnSpPr>
            <a:stCxn id="6" idx="3"/>
            <a:endCxn id="7" idx="1"/>
          </p:cNvCxnSpPr>
          <p:nvPr/>
        </p:nvCxnSpPr>
        <p:spPr>
          <a:xfrm>
            <a:off x="7555695" y="4914522"/>
            <a:ext cx="833564"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8" name="直接连接符 100"/>
          <p:cNvCxnSpPr>
            <a:stCxn id="4" idx="3"/>
            <a:endCxn id="7" idx="2"/>
          </p:cNvCxnSpPr>
          <p:nvPr/>
        </p:nvCxnSpPr>
        <p:spPr>
          <a:xfrm flipV="1">
            <a:off x="6609323" y="5317747"/>
            <a:ext cx="2309526" cy="817940"/>
          </a:xfrm>
          <a:prstGeom prst="line">
            <a:avLst/>
          </a:prstGeom>
          <a:ln w="38100"/>
        </p:spPr>
        <p:style>
          <a:lnRef idx="3">
            <a:schemeClr val="dk1"/>
          </a:lnRef>
          <a:fillRef idx="0">
            <a:schemeClr val="dk1"/>
          </a:fillRef>
          <a:effectRef idx="2">
            <a:schemeClr val="dk1"/>
          </a:effectRef>
          <a:fontRef idx="minor">
            <a:schemeClr val="tx1"/>
          </a:fontRef>
        </p:style>
      </p:cxnSp>
      <p:cxnSp>
        <p:nvCxnSpPr>
          <p:cNvPr id="21" name="直接连接符 100"/>
          <p:cNvCxnSpPr>
            <a:stCxn id="4" idx="3"/>
            <a:endCxn id="6" idx="2"/>
          </p:cNvCxnSpPr>
          <p:nvPr/>
        </p:nvCxnSpPr>
        <p:spPr>
          <a:xfrm flipV="1">
            <a:off x="6609323" y="5317747"/>
            <a:ext cx="416782" cy="81794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直接连接符 100"/>
          <p:cNvCxnSpPr>
            <a:stCxn id="4" idx="1"/>
            <a:endCxn id="5" idx="2"/>
          </p:cNvCxnSpPr>
          <p:nvPr/>
        </p:nvCxnSpPr>
        <p:spPr>
          <a:xfrm flipH="1" flipV="1">
            <a:off x="5020553" y="5317747"/>
            <a:ext cx="529590" cy="817940"/>
          </a:xfrm>
          <a:prstGeom prst="line">
            <a:avLst/>
          </a:prstGeom>
          <a:ln w="38100"/>
        </p:spPr>
        <p:style>
          <a:lnRef idx="3">
            <a:schemeClr val="dk1"/>
          </a:lnRef>
          <a:fillRef idx="0">
            <a:schemeClr val="dk1"/>
          </a:fillRef>
          <a:effectRef idx="2">
            <a:schemeClr val="dk1"/>
          </a:effectRef>
          <a:fontRef idx="minor">
            <a:schemeClr val="tx1"/>
          </a:fontRef>
        </p:style>
      </p:cxnSp>
      <p:cxnSp>
        <p:nvCxnSpPr>
          <p:cNvPr id="63" name="直接箭头连接符 40"/>
          <p:cNvCxnSpPr/>
          <p:nvPr/>
        </p:nvCxnSpPr>
        <p:spPr>
          <a:xfrm flipV="1">
            <a:off x="4999911" y="2346703"/>
            <a:ext cx="0" cy="2164594"/>
          </a:xfrm>
          <a:prstGeom prst="straightConnector1">
            <a:avLst/>
          </a:prstGeom>
          <a:ln w="38100">
            <a:solidFill>
              <a:schemeClr val="accent1">
                <a:lumMod val="75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25" name="直接箭头连接符 40"/>
          <p:cNvCxnSpPr/>
          <p:nvPr/>
        </p:nvCxnSpPr>
        <p:spPr>
          <a:xfrm flipV="1">
            <a:off x="7026105" y="2346703"/>
            <a:ext cx="0" cy="2164594"/>
          </a:xfrm>
          <a:prstGeom prst="straightConnector1">
            <a:avLst/>
          </a:prstGeom>
          <a:ln w="38100">
            <a:solidFill>
              <a:schemeClr val="accent1">
                <a:lumMod val="75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029" name="箭头: 右弧形 18"/>
          <p:cNvSpPr/>
          <p:nvPr/>
        </p:nvSpPr>
        <p:spPr>
          <a:xfrm rot="5400000">
            <a:off x="2586771" y="5214937"/>
            <a:ext cx="763905" cy="1077595"/>
          </a:xfrm>
          <a:prstGeom prst="curvedLeft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0" name="文本框 1029"/>
          <p:cNvSpPr txBox="1"/>
          <p:nvPr/>
        </p:nvSpPr>
        <p:spPr>
          <a:xfrm>
            <a:off x="468558" y="4557858"/>
            <a:ext cx="3120632" cy="400110"/>
          </a:xfrm>
          <a:prstGeom prst="rect">
            <a:avLst/>
          </a:prstGeom>
          <a:noFill/>
        </p:spPr>
        <p:txBody>
          <a:bodyPr wrap="square" rtlCol="0">
            <a:spAutoFit/>
          </a:bodyPr>
          <a:lstStyle/>
          <a:p>
            <a:pPr indent="0">
              <a:buFont typeface="+mj-ea"/>
              <a:buNone/>
            </a:pPr>
            <a:r>
              <a:rPr lang="en-US" altLang="zh-CN" sz="2000" b="1" dirty="0"/>
              <a:t>(1) </a:t>
            </a:r>
            <a:r>
              <a:rPr lang="zh-CN" altLang="en-US" sz="2000" b="1" dirty="0"/>
              <a:t>配置文件转换</a:t>
            </a:r>
            <a:endParaRPr lang="en-US" altLang="zh-CN" sz="2000" b="1" dirty="0"/>
          </a:p>
        </p:txBody>
      </p:sp>
      <p:sp>
        <p:nvSpPr>
          <p:cNvPr id="1043" name="文本框 1042"/>
          <p:cNvSpPr txBox="1"/>
          <p:nvPr/>
        </p:nvSpPr>
        <p:spPr>
          <a:xfrm>
            <a:off x="424621" y="123727"/>
            <a:ext cx="6417141" cy="646331"/>
          </a:xfrm>
          <a:prstGeom prst="rect">
            <a:avLst/>
          </a:prstGeom>
          <a:noFill/>
        </p:spPr>
        <p:txBody>
          <a:bodyPr wrap="none" rtlCol="0" anchor="t">
            <a:spAutoFit/>
          </a:bodyPr>
          <a:lstStyle/>
          <a:p>
            <a:pPr algn="l">
              <a:defRPr/>
            </a:pPr>
            <a:r>
              <a:rPr lang="zh-CN" altLang="en-US" sz="3600" b="1" dirty="0">
                <a:solidFill>
                  <a:srgbClr val="014098"/>
                </a:solidFill>
                <a:latin typeface="Calibri" panose="020F0502020204030204" charset="0"/>
                <a:ea typeface="Calibri" panose="020F0502020204030204" charset="0"/>
                <a:cs typeface="Calibri" panose="020F0502020204030204" charset="0"/>
                <a:sym typeface="+mn-ea"/>
              </a:rPr>
              <a:t>研究计划</a:t>
            </a: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 </a:t>
            </a:r>
            <a:r>
              <a:rPr lang="zh-CN" altLang="en-US" sz="3600" b="1" dirty="0">
                <a:solidFill>
                  <a:srgbClr val="014098"/>
                </a:solidFill>
                <a:latin typeface="Calibri" panose="020F0502020204030204" charset="0"/>
                <a:ea typeface="Calibri" panose="020F0502020204030204" charset="0"/>
                <a:cs typeface="Calibri" panose="020F0502020204030204" charset="0"/>
                <a:sym typeface="+mn-ea"/>
              </a:rPr>
              <a:t>系统架构与工作流程</a:t>
            </a:r>
            <a:endParaRPr lang="zh-CN" altLang="en-US" sz="3600" dirty="0"/>
          </a:p>
        </p:txBody>
      </p:sp>
      <p:sp>
        <p:nvSpPr>
          <p:cNvPr id="1044" name="任意多边形 7"/>
          <p:cNvSpPr/>
          <p:nvPr>
            <p:custDataLst>
              <p:tags r:id="rId3"/>
            </p:custDataLst>
          </p:nvPr>
        </p:nvSpPr>
        <p:spPr>
          <a:xfrm flipV="1">
            <a:off x="424931" y="792871"/>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1045" name="任意多边形 8"/>
          <p:cNvSpPr/>
          <p:nvPr>
            <p:custDataLst>
              <p:tags r:id="rId4"/>
            </p:custDataLst>
          </p:nvPr>
        </p:nvSpPr>
        <p:spPr>
          <a:xfrm>
            <a:off x="14088" y="487342"/>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1054" name="文本框 1053"/>
          <p:cNvSpPr txBox="1"/>
          <p:nvPr/>
        </p:nvSpPr>
        <p:spPr>
          <a:xfrm>
            <a:off x="2963592" y="3126870"/>
            <a:ext cx="1613443" cy="830997"/>
          </a:xfrm>
          <a:prstGeom prst="rect">
            <a:avLst/>
          </a:prstGeom>
          <a:noFill/>
        </p:spPr>
        <p:txBody>
          <a:bodyPr wrap="square" rtlCol="0">
            <a:spAutoFit/>
          </a:bodyPr>
          <a:lstStyle/>
          <a:p>
            <a:r>
              <a:rPr lang="zh-CN" altLang="en-US" sz="1600" b="1" dirty="0"/>
              <a:t>配置文件的中间表示</a:t>
            </a:r>
            <a:endParaRPr lang="en-US" altLang="zh-CN" sz="1600" b="1" dirty="0"/>
          </a:p>
          <a:p>
            <a:r>
              <a:rPr lang="en-US" altLang="zh-CN" sz="1600" b="1" dirty="0">
                <a:solidFill>
                  <a:srgbClr val="FF0000"/>
                </a:solidFill>
              </a:rPr>
              <a:t>(</a:t>
            </a:r>
            <a:r>
              <a:rPr lang="zh-CN" altLang="en-US" sz="1600" b="1" dirty="0">
                <a:solidFill>
                  <a:srgbClr val="FF0000"/>
                </a:solidFill>
              </a:rPr>
              <a:t>隐私</a:t>
            </a:r>
            <a:r>
              <a:rPr lang="en-US" altLang="zh-CN" sz="1600" b="1" dirty="0">
                <a:solidFill>
                  <a:srgbClr val="FF0000"/>
                </a:solidFill>
              </a:rPr>
              <a:t>)</a:t>
            </a:r>
            <a:endParaRPr lang="en-US" altLang="zh-CN" sz="1600" b="1" dirty="0">
              <a:solidFill>
                <a:srgbClr val="FF0000"/>
              </a:solidFill>
            </a:endParaRPr>
          </a:p>
        </p:txBody>
      </p:sp>
      <p:grpSp>
        <p:nvGrpSpPr>
          <p:cNvPr id="49" name="组合 48"/>
          <p:cNvGrpSpPr/>
          <p:nvPr/>
        </p:nvGrpSpPr>
        <p:grpSpPr>
          <a:xfrm>
            <a:off x="1549380" y="366833"/>
            <a:ext cx="8154320" cy="3831246"/>
            <a:chOff x="1658820" y="486532"/>
            <a:chExt cx="8154320" cy="3831246"/>
          </a:xfrm>
        </p:grpSpPr>
        <p:grpSp>
          <p:nvGrpSpPr>
            <p:cNvPr id="1066" name="组合 1065"/>
            <p:cNvGrpSpPr/>
            <p:nvPr/>
          </p:nvGrpSpPr>
          <p:grpSpPr>
            <a:xfrm>
              <a:off x="1658820" y="486532"/>
              <a:ext cx="8154320" cy="3831246"/>
              <a:chOff x="1714309" y="609145"/>
              <a:chExt cx="8154320" cy="3831246"/>
            </a:xfrm>
          </p:grpSpPr>
          <p:sp>
            <p:nvSpPr>
              <p:cNvPr id="1059" name="云形 1058"/>
              <p:cNvSpPr/>
              <p:nvPr/>
            </p:nvSpPr>
            <p:spPr>
              <a:xfrm>
                <a:off x="1714309" y="609145"/>
                <a:ext cx="8154320" cy="3831246"/>
              </a:xfrm>
              <a:prstGeom prst="cloud">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t>
                </a:r>
                <a:endParaRPr lang="zh-CN" altLang="en-US"/>
              </a:p>
            </p:txBody>
          </p:sp>
          <p:cxnSp>
            <p:nvCxnSpPr>
              <p:cNvPr id="1062" name="直接箭头连接符 12"/>
              <p:cNvCxnSpPr>
                <a:stCxn id="1060" idx="2"/>
                <a:endCxn id="1061" idx="0"/>
              </p:cNvCxnSpPr>
              <p:nvPr>
                <p:custDataLst>
                  <p:tags r:id="rId5"/>
                </p:custDataLst>
              </p:nvPr>
            </p:nvCxnSpPr>
            <p:spPr>
              <a:xfrm flipH="1">
                <a:off x="5752262" y="2052544"/>
                <a:ext cx="39331" cy="67110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65" name="文本框 1064"/>
              <p:cNvSpPr txBox="1"/>
              <p:nvPr/>
            </p:nvSpPr>
            <p:spPr>
              <a:xfrm>
                <a:off x="5731901" y="2122341"/>
                <a:ext cx="3170581" cy="400110"/>
              </a:xfrm>
              <a:prstGeom prst="rect">
                <a:avLst/>
              </a:prstGeom>
              <a:noFill/>
            </p:spPr>
            <p:txBody>
              <a:bodyPr wrap="square" rtlCol="0">
                <a:spAutoFit/>
              </a:bodyPr>
              <a:lstStyle/>
              <a:p>
                <a:r>
                  <a:rPr lang="zh-CN" altLang="en-US" sz="2000" b="1" dirty="0"/>
                  <a:t>数据平面</a:t>
                </a:r>
                <a:r>
                  <a:rPr lang="en-US" altLang="zh-CN" sz="2000" b="1" dirty="0">
                    <a:solidFill>
                      <a:srgbClr val="FF0000"/>
                    </a:solidFill>
                  </a:rPr>
                  <a:t>(</a:t>
                </a:r>
                <a:r>
                  <a:rPr lang="zh-CN" altLang="en-US" sz="2000" b="1" dirty="0">
                    <a:solidFill>
                      <a:srgbClr val="FF0000"/>
                    </a:solidFill>
                  </a:rPr>
                  <a:t>隐私</a:t>
                </a:r>
                <a:r>
                  <a:rPr lang="en-US" altLang="zh-CN" sz="2000" b="1" dirty="0">
                    <a:solidFill>
                      <a:srgbClr val="FF0000"/>
                    </a:solidFill>
                  </a:rPr>
                  <a:t>)</a:t>
                </a:r>
                <a:endParaRPr lang="en-US" altLang="zh-CN" sz="2000" b="1" dirty="0"/>
              </a:p>
            </p:txBody>
          </p:sp>
          <p:sp>
            <p:nvSpPr>
              <p:cNvPr id="1060" name="圆角矩形 1059"/>
              <p:cNvSpPr/>
              <p:nvPr/>
            </p:nvSpPr>
            <p:spPr>
              <a:xfrm>
                <a:off x="4411151" y="1047681"/>
                <a:ext cx="2760883" cy="100486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400" b="1" dirty="0"/>
                  <a:t>(2) </a:t>
                </a:r>
                <a:r>
                  <a:rPr lang="zh-CN" altLang="en-US" sz="2400" b="1" dirty="0"/>
                  <a:t>隐私保护的网络控制面验证算法</a:t>
                </a:r>
                <a:endParaRPr lang="en-US" altLang="zh-CN" sz="2400" b="1" dirty="0"/>
              </a:p>
            </p:txBody>
          </p:sp>
          <p:sp>
            <p:nvSpPr>
              <p:cNvPr id="1061" name="圆角矩形 1060"/>
              <p:cNvSpPr/>
              <p:nvPr/>
            </p:nvSpPr>
            <p:spPr>
              <a:xfrm>
                <a:off x="4411152" y="2723645"/>
                <a:ext cx="2682220" cy="940693"/>
              </a:xfrm>
              <a:prstGeom prst="roundRect">
                <a:avLst>
                  <a:gd name="adj" fmla="val 26598"/>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400" b="1" dirty="0"/>
                  <a:t>(3) </a:t>
                </a:r>
                <a:r>
                  <a:rPr lang="zh-CN" altLang="en-US" sz="2400" b="1" dirty="0"/>
                  <a:t>隐私保护的数据平面验证算法</a:t>
                </a:r>
                <a:endParaRPr lang="en-US" altLang="zh-CN" sz="2400" b="1" dirty="0"/>
              </a:p>
            </p:txBody>
          </p:sp>
        </p:grpSp>
        <p:grpSp>
          <p:nvGrpSpPr>
            <p:cNvPr id="9" name="组合 8"/>
            <p:cNvGrpSpPr/>
            <p:nvPr/>
          </p:nvGrpSpPr>
          <p:grpSpPr>
            <a:xfrm>
              <a:off x="2304076" y="2096318"/>
              <a:ext cx="2272556" cy="1018188"/>
              <a:chOff x="2291642" y="947619"/>
              <a:chExt cx="7399915" cy="2579368"/>
            </a:xfrm>
          </p:grpSpPr>
          <p:cxnSp>
            <p:nvCxnSpPr>
              <p:cNvPr id="10" name="直接连接符 100"/>
              <p:cNvCxnSpPr/>
              <p:nvPr/>
            </p:nvCxnSpPr>
            <p:spPr>
              <a:xfrm>
                <a:off x="3348681" y="1665742"/>
                <a:ext cx="123567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2" name="直接连接符 100"/>
              <p:cNvCxnSpPr/>
              <p:nvPr/>
            </p:nvCxnSpPr>
            <p:spPr>
              <a:xfrm>
                <a:off x="5285348" y="1665742"/>
                <a:ext cx="1323975"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3" name="直接连接符 100"/>
              <p:cNvCxnSpPr/>
              <p:nvPr/>
            </p:nvCxnSpPr>
            <p:spPr>
              <a:xfrm>
                <a:off x="7376984" y="1665742"/>
                <a:ext cx="123361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5" name="直接连接符 100"/>
              <p:cNvCxnSpPr/>
              <p:nvPr/>
            </p:nvCxnSpPr>
            <p:spPr>
              <a:xfrm flipV="1">
                <a:off x="6534178" y="2068967"/>
                <a:ext cx="2384671" cy="813178"/>
              </a:xfrm>
              <a:prstGeom prst="line">
                <a:avLst/>
              </a:prstGeom>
              <a:ln w="38100"/>
            </p:spPr>
            <p:style>
              <a:lnRef idx="3">
                <a:schemeClr val="dk1"/>
              </a:lnRef>
              <a:fillRef idx="0">
                <a:schemeClr val="dk1"/>
              </a:fillRef>
              <a:effectRef idx="2">
                <a:schemeClr val="dk1"/>
              </a:effectRef>
              <a:fontRef idx="minor">
                <a:schemeClr val="tx1"/>
              </a:fontRef>
            </p:style>
          </p:cxnSp>
          <p:cxnSp>
            <p:nvCxnSpPr>
              <p:cNvPr id="16" name="直接连接符 100"/>
              <p:cNvCxnSpPr/>
              <p:nvPr/>
            </p:nvCxnSpPr>
            <p:spPr>
              <a:xfrm flipV="1">
                <a:off x="6490288" y="2068967"/>
                <a:ext cx="535817" cy="813178"/>
              </a:xfrm>
              <a:prstGeom prst="line">
                <a:avLst/>
              </a:prstGeom>
              <a:ln w="38100"/>
            </p:spPr>
            <p:style>
              <a:lnRef idx="3">
                <a:schemeClr val="dk1"/>
              </a:lnRef>
              <a:fillRef idx="0">
                <a:schemeClr val="dk1"/>
              </a:fillRef>
              <a:effectRef idx="2">
                <a:schemeClr val="dk1"/>
              </a:effectRef>
              <a:fontRef idx="minor">
                <a:schemeClr val="tx1"/>
              </a:fontRef>
            </p:style>
          </p:cxnSp>
          <p:cxnSp>
            <p:nvCxnSpPr>
              <p:cNvPr id="17" name="直接连接符 100"/>
              <p:cNvCxnSpPr/>
              <p:nvPr/>
            </p:nvCxnSpPr>
            <p:spPr>
              <a:xfrm flipH="1" flipV="1">
                <a:off x="5020553" y="2068967"/>
                <a:ext cx="693293" cy="886459"/>
              </a:xfrm>
              <a:prstGeom prst="line">
                <a:avLst/>
              </a:prstGeom>
              <a:ln w="38100"/>
            </p:spPr>
            <p:style>
              <a:lnRef idx="3">
                <a:schemeClr val="dk1"/>
              </a:lnRef>
              <a:fillRef idx="0">
                <a:schemeClr val="dk1"/>
              </a:fillRef>
              <a:effectRef idx="2">
                <a:schemeClr val="dk1"/>
              </a:effectRef>
              <a:fontRef idx="minor">
                <a:schemeClr val="tx1"/>
              </a:fontRef>
            </p:style>
          </p:cxnSp>
          <p:pic>
            <p:nvPicPr>
              <p:cNvPr id="19" name="Picture 2" descr="Desktop, pc, server icon - Free download on Iconfind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91642" y="952382"/>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Desktop, pc, server icon - Free download on Iconfind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05127" y="952773"/>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Desktop, pc, server icon - Free download on Iconfind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44528" y="947619"/>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Desktop, pc, server icon - Free download on Iconfind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01873" y="947619"/>
                <a:ext cx="1289684" cy="128968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Desktop, pc, server icon - Free download on Iconfind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75410" y="2237303"/>
                <a:ext cx="1289684" cy="128968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7" name="文本框 26"/>
          <p:cNvSpPr txBox="1"/>
          <p:nvPr/>
        </p:nvSpPr>
        <p:spPr>
          <a:xfrm>
            <a:off x="2552828" y="4162452"/>
            <a:ext cx="848005" cy="461665"/>
          </a:xfrm>
          <a:prstGeom prst="rect">
            <a:avLst/>
          </a:prstGeom>
          <a:noFill/>
        </p:spPr>
        <p:txBody>
          <a:bodyPr wrap="square" rtlCol="0">
            <a:spAutoFit/>
          </a:bodyPr>
          <a:lstStyle/>
          <a:p>
            <a:r>
              <a:rPr kumimoji="1" lang="en-US" altLang="zh-CN" sz="2400" b="1"/>
              <a:t>AS  A</a:t>
            </a:r>
            <a:endParaRPr kumimoji="1" lang="zh-CN" altLang="en-US" sz="2400" b="1"/>
          </a:p>
        </p:txBody>
      </p:sp>
      <p:sp>
        <p:nvSpPr>
          <p:cNvPr id="28" name="文本框 27"/>
          <p:cNvSpPr txBox="1"/>
          <p:nvPr/>
        </p:nvSpPr>
        <p:spPr>
          <a:xfrm>
            <a:off x="4966932" y="4144749"/>
            <a:ext cx="848005" cy="523220"/>
          </a:xfrm>
          <a:prstGeom prst="rect">
            <a:avLst/>
          </a:prstGeom>
          <a:noFill/>
        </p:spPr>
        <p:txBody>
          <a:bodyPr wrap="square" rtlCol="0">
            <a:spAutoFit/>
          </a:bodyPr>
          <a:lstStyle/>
          <a:p>
            <a:r>
              <a:rPr kumimoji="1" lang="en-US" altLang="zh-CN" sz="2800" b="1"/>
              <a:t>B</a:t>
            </a:r>
            <a:endParaRPr kumimoji="1" lang="zh-CN" altLang="en-US" sz="2800" b="1"/>
          </a:p>
        </p:txBody>
      </p:sp>
      <p:sp>
        <p:nvSpPr>
          <p:cNvPr id="30" name="文本框 29"/>
          <p:cNvSpPr txBox="1"/>
          <p:nvPr/>
        </p:nvSpPr>
        <p:spPr>
          <a:xfrm>
            <a:off x="6081070" y="5350857"/>
            <a:ext cx="848005" cy="523220"/>
          </a:xfrm>
          <a:prstGeom prst="rect">
            <a:avLst/>
          </a:prstGeom>
          <a:noFill/>
        </p:spPr>
        <p:txBody>
          <a:bodyPr wrap="square" rtlCol="0">
            <a:spAutoFit/>
          </a:bodyPr>
          <a:lstStyle/>
          <a:p>
            <a:r>
              <a:rPr kumimoji="1" lang="en-US" altLang="zh-CN" sz="2800" b="1"/>
              <a:t>C</a:t>
            </a:r>
            <a:endParaRPr kumimoji="1" lang="zh-CN" altLang="en-US" sz="2800" b="1"/>
          </a:p>
        </p:txBody>
      </p:sp>
      <p:sp>
        <p:nvSpPr>
          <p:cNvPr id="31" name="文本框 30"/>
          <p:cNvSpPr txBox="1"/>
          <p:nvPr/>
        </p:nvSpPr>
        <p:spPr>
          <a:xfrm>
            <a:off x="7007106" y="4138469"/>
            <a:ext cx="848005" cy="523220"/>
          </a:xfrm>
          <a:prstGeom prst="rect">
            <a:avLst/>
          </a:prstGeom>
          <a:noFill/>
        </p:spPr>
        <p:txBody>
          <a:bodyPr wrap="square" rtlCol="0">
            <a:spAutoFit/>
          </a:bodyPr>
          <a:lstStyle/>
          <a:p>
            <a:r>
              <a:rPr kumimoji="1" lang="en-US" altLang="zh-CN" sz="2800" b="1"/>
              <a:t>D</a:t>
            </a:r>
            <a:endParaRPr kumimoji="1" lang="zh-CN" altLang="en-US" sz="2800" b="1"/>
          </a:p>
        </p:txBody>
      </p:sp>
      <p:sp>
        <p:nvSpPr>
          <p:cNvPr id="32" name="文本框 31"/>
          <p:cNvSpPr txBox="1"/>
          <p:nvPr/>
        </p:nvSpPr>
        <p:spPr>
          <a:xfrm>
            <a:off x="8932226" y="4105122"/>
            <a:ext cx="848005" cy="523220"/>
          </a:xfrm>
          <a:prstGeom prst="rect">
            <a:avLst/>
          </a:prstGeom>
          <a:noFill/>
        </p:spPr>
        <p:txBody>
          <a:bodyPr wrap="square" rtlCol="0">
            <a:spAutoFit/>
          </a:bodyPr>
          <a:lstStyle/>
          <a:p>
            <a:r>
              <a:rPr kumimoji="1" lang="en-US" altLang="zh-CN" sz="2800" b="1"/>
              <a:t>E</a:t>
            </a:r>
            <a:endParaRPr kumimoji="1" lang="zh-CN" altLang="en-US" sz="2800" b="1"/>
          </a:p>
        </p:txBody>
      </p:sp>
      <p:grpSp>
        <p:nvGrpSpPr>
          <p:cNvPr id="1039" name="组合 1038"/>
          <p:cNvGrpSpPr/>
          <p:nvPr/>
        </p:nvGrpSpPr>
        <p:grpSpPr>
          <a:xfrm>
            <a:off x="6901759" y="2767013"/>
            <a:ext cx="3672051" cy="738275"/>
            <a:chOff x="6901759" y="2767013"/>
            <a:chExt cx="3672051" cy="738275"/>
          </a:xfrm>
        </p:grpSpPr>
        <p:cxnSp>
          <p:nvCxnSpPr>
            <p:cNvPr id="1055" name="直接箭头连接符 39"/>
            <p:cNvCxnSpPr/>
            <p:nvPr/>
          </p:nvCxnSpPr>
          <p:spPr>
            <a:xfrm>
              <a:off x="7105092" y="3171551"/>
              <a:ext cx="3468718" cy="33373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58" name="文本框 1057"/>
            <p:cNvSpPr txBox="1"/>
            <p:nvPr/>
          </p:nvSpPr>
          <p:spPr>
            <a:xfrm>
              <a:off x="6901759" y="2767013"/>
              <a:ext cx="2179835" cy="369332"/>
            </a:xfrm>
            <a:prstGeom prst="rect">
              <a:avLst/>
            </a:prstGeom>
            <a:noFill/>
          </p:spPr>
          <p:txBody>
            <a:bodyPr wrap="square" rtlCol="0">
              <a:spAutoFit/>
            </a:bodyPr>
            <a:lstStyle/>
            <a:p>
              <a:r>
                <a:rPr lang="zh-CN" altLang="en-US" b="1" dirty="0"/>
                <a:t>验证结果</a:t>
              </a:r>
              <a:r>
                <a:rPr lang="en-US" altLang="zh-CN" b="1" dirty="0"/>
                <a:t> </a:t>
              </a:r>
              <a:r>
                <a:rPr lang="en-US" altLang="zh-CN" b="1" dirty="0">
                  <a:solidFill>
                    <a:srgbClr val="00B050"/>
                  </a:solidFill>
                </a:rPr>
                <a:t>(</a:t>
              </a:r>
              <a:r>
                <a:rPr lang="zh-CN" altLang="en-US" b="1" dirty="0">
                  <a:solidFill>
                    <a:srgbClr val="00B050"/>
                  </a:solidFill>
                </a:rPr>
                <a:t>公开</a:t>
              </a:r>
              <a:r>
                <a:rPr lang="en-US" altLang="zh-CN" b="1" dirty="0">
                  <a:solidFill>
                    <a:srgbClr val="00B050"/>
                  </a:solidFill>
                </a:rPr>
                <a:t>)</a:t>
              </a:r>
              <a:endParaRPr lang="en-US" altLang="zh-CN" b="1" dirty="0">
                <a:solidFill>
                  <a:srgbClr val="00B050"/>
                </a:solidFill>
              </a:endParaRPr>
            </a:p>
          </p:txBody>
        </p:sp>
      </p:grpSp>
      <p:grpSp>
        <p:nvGrpSpPr>
          <p:cNvPr id="1036" name="组合 1035"/>
          <p:cNvGrpSpPr/>
          <p:nvPr/>
        </p:nvGrpSpPr>
        <p:grpSpPr>
          <a:xfrm>
            <a:off x="7007105" y="975861"/>
            <a:ext cx="5311152" cy="3229239"/>
            <a:chOff x="7007105" y="975861"/>
            <a:chExt cx="5311152" cy="3229239"/>
          </a:xfrm>
        </p:grpSpPr>
        <p:pic>
          <p:nvPicPr>
            <p:cNvPr id="1047" name="图片 1046" descr="用户"/>
            <p:cNvPicPr>
              <a:picLocks noChangeAspect="1"/>
            </p:cNvPicPr>
            <p:nvPr/>
          </p:nvPicPr>
          <p:blipFill>
            <a:blip r:embed="rId7"/>
            <a:stretch>
              <a:fillRect/>
            </a:stretch>
          </p:blipFill>
          <p:spPr>
            <a:xfrm>
              <a:off x="10498950" y="3126870"/>
              <a:ext cx="1078230" cy="1078230"/>
            </a:xfrm>
            <a:prstGeom prst="rect">
              <a:avLst/>
            </a:prstGeom>
          </p:spPr>
        </p:pic>
        <p:cxnSp>
          <p:nvCxnSpPr>
            <p:cNvPr id="1048" name="直接箭头连接符 30"/>
            <p:cNvCxnSpPr>
              <a:endCxn id="1060" idx="3"/>
            </p:cNvCxnSpPr>
            <p:nvPr/>
          </p:nvCxnSpPr>
          <p:spPr>
            <a:xfrm flipH="1" flipV="1">
              <a:off x="7007105" y="1307801"/>
              <a:ext cx="3459656" cy="1625632"/>
            </a:xfrm>
            <a:prstGeom prst="straightConnector1">
              <a:avLst/>
            </a:prstGeom>
            <a:ln w="38100">
              <a:tailEnd type="arrow" w="med" len="med"/>
            </a:ln>
          </p:spPr>
          <p:style>
            <a:lnRef idx="1">
              <a:schemeClr val="dk1"/>
            </a:lnRef>
            <a:fillRef idx="0">
              <a:schemeClr val="dk1"/>
            </a:fillRef>
            <a:effectRef idx="0">
              <a:schemeClr val="dk1"/>
            </a:effectRef>
            <a:fontRef idx="minor">
              <a:schemeClr val="tx1"/>
            </a:fontRef>
          </p:style>
        </p:cxnSp>
        <p:sp>
          <p:nvSpPr>
            <p:cNvPr id="1049" name="文本框 1048"/>
            <p:cNvSpPr txBox="1"/>
            <p:nvPr/>
          </p:nvSpPr>
          <p:spPr>
            <a:xfrm>
              <a:off x="10354597" y="2446025"/>
              <a:ext cx="1963660" cy="646331"/>
            </a:xfrm>
            <a:prstGeom prst="rect">
              <a:avLst/>
            </a:prstGeom>
            <a:noFill/>
          </p:spPr>
          <p:txBody>
            <a:bodyPr wrap="square" rtlCol="0">
              <a:spAutoFit/>
            </a:bodyPr>
            <a:lstStyle/>
            <a:p>
              <a:r>
                <a:rPr lang="zh-CN" altLang="en-US" b="1" dirty="0"/>
                <a:t>用户提供正确性规约</a:t>
              </a:r>
              <a:r>
                <a:rPr lang="en-US" altLang="zh-CN" b="1" dirty="0">
                  <a:solidFill>
                    <a:srgbClr val="00B050"/>
                  </a:solidFill>
                </a:rPr>
                <a:t>(</a:t>
              </a:r>
              <a:r>
                <a:rPr lang="zh-CN" altLang="en-US" b="1" dirty="0">
                  <a:solidFill>
                    <a:srgbClr val="00B050"/>
                  </a:solidFill>
                </a:rPr>
                <a:t>公开</a:t>
              </a:r>
              <a:r>
                <a:rPr lang="en-US" altLang="zh-CN" b="1" dirty="0">
                  <a:solidFill>
                    <a:srgbClr val="00B050"/>
                  </a:solidFill>
                </a:rPr>
                <a:t>)</a:t>
              </a:r>
              <a:endParaRPr lang="en-US" altLang="zh-CN" b="1" dirty="0">
                <a:solidFill>
                  <a:srgbClr val="00B050"/>
                </a:solidFill>
              </a:endParaRPr>
            </a:p>
          </p:txBody>
        </p:sp>
        <p:grpSp>
          <p:nvGrpSpPr>
            <p:cNvPr id="57" name="组合 56"/>
            <p:cNvGrpSpPr/>
            <p:nvPr/>
          </p:nvGrpSpPr>
          <p:grpSpPr>
            <a:xfrm>
              <a:off x="7007106" y="975861"/>
              <a:ext cx="5117563" cy="1258386"/>
              <a:chOff x="-2793583" y="3024039"/>
              <a:chExt cx="5117563" cy="1258386"/>
            </a:xfrm>
          </p:grpSpPr>
          <p:pic>
            <p:nvPicPr>
              <p:cNvPr id="59" name="Picture 6" descr="Network topology Icon - Free PNG &amp; SVG 1927721 - Noun Project"/>
              <p:cNvPicPr>
                <a:picLocks noChangeAspect="1" noChangeArrowheads="1"/>
              </p:cNvPicPr>
              <p:nvPr/>
            </p:nvPicPr>
            <p:blipFill>
              <a:blip r:embed="rId8">
                <a:alphaModFix amt="66000"/>
                <a:extLst>
                  <a:ext uri="{28A0092B-C50C-407E-A947-70E740481C1C}">
                    <a14:useLocalDpi xmlns:a14="http://schemas.microsoft.com/office/drawing/2010/main" val="0"/>
                  </a:ext>
                </a:extLst>
              </a:blip>
              <a:srcRect/>
              <a:stretch>
                <a:fillRect/>
              </a:stretch>
            </p:blipFill>
            <p:spPr bwMode="auto">
              <a:xfrm>
                <a:off x="598736" y="3024039"/>
                <a:ext cx="948690" cy="948690"/>
              </a:xfrm>
              <a:prstGeom prst="rect">
                <a:avLst/>
              </a:prstGeom>
              <a:noFill/>
              <a:extLst>
                <a:ext uri="{909E8E84-426E-40DD-AFC4-6F175D3DCCD1}">
                  <a14:hiddenFill xmlns:a14="http://schemas.microsoft.com/office/drawing/2010/main">
                    <a:solidFill>
                      <a:srgbClr val="FFFFFF"/>
                    </a:solidFill>
                  </a14:hiddenFill>
                </a:ext>
              </a:extLst>
            </p:spPr>
          </p:pic>
          <p:sp>
            <p:nvSpPr>
              <p:cNvPr id="60" name="文本框 59"/>
              <p:cNvSpPr txBox="1"/>
              <p:nvPr/>
            </p:nvSpPr>
            <p:spPr>
              <a:xfrm>
                <a:off x="-32518" y="3913093"/>
                <a:ext cx="2356498" cy="369332"/>
              </a:xfrm>
              <a:prstGeom prst="rect">
                <a:avLst/>
              </a:prstGeom>
              <a:noFill/>
            </p:spPr>
            <p:txBody>
              <a:bodyPr wrap="square" rtlCol="0">
                <a:spAutoFit/>
              </a:bodyPr>
              <a:lstStyle/>
              <a:p>
                <a:r>
                  <a:rPr lang="zh-CN" altLang="en-US" b="1" dirty="0"/>
                  <a:t>网络拓扑信息</a:t>
                </a:r>
                <a:r>
                  <a:rPr lang="en-US" altLang="zh-CN" b="1" dirty="0">
                    <a:solidFill>
                      <a:srgbClr val="00B050"/>
                    </a:solidFill>
                  </a:rPr>
                  <a:t>(</a:t>
                </a:r>
                <a:r>
                  <a:rPr lang="zh-CN" altLang="en-US" b="1" dirty="0">
                    <a:solidFill>
                      <a:srgbClr val="00B050"/>
                    </a:solidFill>
                  </a:rPr>
                  <a:t>公开</a:t>
                </a:r>
                <a:r>
                  <a:rPr lang="en-US" altLang="zh-CN" b="1" dirty="0">
                    <a:solidFill>
                      <a:srgbClr val="00B050"/>
                    </a:solidFill>
                  </a:rPr>
                  <a:t>)</a:t>
                </a:r>
                <a:endParaRPr lang="en-US" altLang="zh-CN" b="1" dirty="0">
                  <a:solidFill>
                    <a:srgbClr val="00B050"/>
                  </a:solidFill>
                </a:endParaRPr>
              </a:p>
            </p:txBody>
          </p:sp>
          <p:cxnSp>
            <p:nvCxnSpPr>
              <p:cNvPr id="61" name="直接箭头连接符 30"/>
              <p:cNvCxnSpPr>
                <a:stCxn id="59" idx="1"/>
              </p:cNvCxnSpPr>
              <p:nvPr/>
            </p:nvCxnSpPr>
            <p:spPr>
              <a:xfrm flipH="1" flipV="1">
                <a:off x="-2793583" y="3246366"/>
                <a:ext cx="3392319" cy="252018"/>
              </a:xfrm>
              <a:prstGeom prst="straightConnector1">
                <a:avLst/>
              </a:prstGeom>
              <a:ln w="38100">
                <a:tailEnd type="arrow" w="med" len="med"/>
              </a:ln>
            </p:spPr>
            <p:style>
              <a:lnRef idx="1">
                <a:schemeClr val="dk1"/>
              </a:lnRef>
              <a:fillRef idx="0">
                <a:schemeClr val="dk1"/>
              </a:fillRef>
              <a:effectRef idx="0">
                <a:schemeClr val="dk1"/>
              </a:effectRef>
              <a:fontRef idx="minor">
                <a:schemeClr val="tx1"/>
              </a:fontRef>
            </p:style>
          </p:cxnSp>
        </p:grpSp>
      </p:grpSp>
      <p:sp>
        <p:nvSpPr>
          <p:cNvPr id="26" name="灯片编号占位符 2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36"/>
                                        </p:tgtEl>
                                        <p:attrNameLst>
                                          <p:attrName>style.visibility</p:attrName>
                                        </p:attrNameLst>
                                      </p:cBhvr>
                                      <p:to>
                                        <p:strVal val="visible"/>
                                      </p:to>
                                    </p:set>
                                    <p:animEffect transition="in" filter="dissolve">
                                      <p:cBhvr>
                                        <p:cTn id="12" dur="500"/>
                                        <p:tgtEl>
                                          <p:spTgt spid="103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39"/>
                                        </p:tgtEl>
                                        <p:attrNameLst>
                                          <p:attrName>style.visibility</p:attrName>
                                        </p:attrNameLst>
                                      </p:cBhvr>
                                      <p:to>
                                        <p:strVal val="visible"/>
                                      </p:to>
                                    </p:set>
                                    <p:animEffect transition="in" filter="dissolve">
                                      <p:cBhvr>
                                        <p:cTn id="17" dur="500"/>
                                        <p:tgtEl>
                                          <p:spTgt spid="1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102996"/>
            <a:ext cx="2749471" cy="707886"/>
          </a:xfrm>
          <a:prstGeom prst="rect">
            <a:avLst/>
          </a:prstGeom>
          <a:noFill/>
        </p:spPr>
        <p:txBody>
          <a:bodyPr wrap="none" rtlCol="0" anchor="t">
            <a:spAutoFit/>
          </a:bodyPr>
          <a:lstStyle/>
          <a:p>
            <a:pPr algn="l">
              <a:defRPr/>
            </a:pPr>
            <a:r>
              <a:rPr lang="zh-CN" altLang="en-US" sz="4000" b="1" dirty="0">
                <a:solidFill>
                  <a:schemeClr val="accent5">
                    <a:lumMod val="75000"/>
                  </a:schemeClr>
                </a:solidFill>
                <a:latin typeface="微软雅黑" panose="020B0503020204020204" charset="-122"/>
                <a:ea typeface="微软雅黑" panose="020B0503020204020204" charset="-122"/>
              </a:rPr>
              <a:t>可行性评估</a:t>
            </a:r>
            <a:endParaRPr lang="zh-CN" altLang="en-US" sz="4000" b="1" dirty="0">
              <a:solidFill>
                <a:schemeClr val="accent5">
                  <a:lumMod val="75000"/>
                </a:schemeClr>
              </a:solidFill>
              <a:latin typeface="微软雅黑" panose="020B0503020204020204" charset="-122"/>
              <a:ea typeface="微软雅黑" panose="020B0503020204020204" charset="-122"/>
            </a:endParaRPr>
          </a:p>
        </p:txBody>
      </p:sp>
      <p:sp>
        <p:nvSpPr>
          <p:cNvPr id="8" name="内容占位符 2"/>
          <p:cNvSpPr>
            <a:spLocks noGrp="1"/>
          </p:cNvSpPr>
          <p:nvPr/>
        </p:nvSpPr>
        <p:spPr>
          <a:xfrm>
            <a:off x="417195" y="1186815"/>
            <a:ext cx="10929620" cy="4742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微软雅黑" panose="020B0503020204020204" charset="-122"/>
                <a:ea typeface="微软雅黑" panose="020B0503020204020204" charset="-122"/>
                <a:sym typeface="+mn-ea"/>
              </a:rPr>
              <a:t>实验环境</a:t>
            </a:r>
            <a:r>
              <a:rPr lang="en-US" altLang="zh-CN" b="1" dirty="0">
                <a:latin typeface="微软雅黑" panose="020B0503020204020204" charset="-122"/>
                <a:ea typeface="微软雅黑" panose="020B0503020204020204" charset="-122"/>
                <a:sym typeface="+mn-ea"/>
              </a:rPr>
              <a:t>:</a:t>
            </a:r>
            <a:endParaRPr lang="en-US" altLang="zh-CN" dirty="0">
              <a:latin typeface="微软雅黑" panose="020B0503020204020204" charset="-122"/>
              <a:ea typeface="微软雅黑" panose="020B0503020204020204" charset="-122"/>
            </a:endParaRPr>
          </a:p>
          <a:p>
            <a:pPr marL="0" indent="0">
              <a:buNone/>
            </a:pPr>
            <a:r>
              <a:rPr lang="zh-CN" altLang="en-US" dirty="0">
                <a:latin typeface="微软雅黑" panose="020B0503020204020204" charset="-122"/>
                <a:ea typeface="微软雅黑" panose="020B0503020204020204" charset="-122"/>
              </a:rPr>
              <a:t>我们在</a:t>
            </a:r>
            <a:r>
              <a:rPr lang="en-US" altLang="zh-CN" dirty="0">
                <a:latin typeface="微软雅黑" panose="020B0503020204020204" charset="-122"/>
                <a:ea typeface="微软雅黑" panose="020B0503020204020204" charset="-122"/>
                <a:sym typeface="+mn-ea"/>
              </a:rPr>
              <a:t>MP-SPDZ[3]</a:t>
            </a:r>
            <a:r>
              <a:rPr lang="zh-CN" altLang="en-US" dirty="0">
                <a:latin typeface="微软雅黑" panose="020B0503020204020204" charset="-122"/>
                <a:ea typeface="微软雅黑" panose="020B0503020204020204" charset="-122"/>
                <a:sym typeface="+mn-ea"/>
              </a:rPr>
              <a:t>上对多管理域网络配置验证进行了前期评估。</a:t>
            </a:r>
            <a:endParaRPr lang="zh-CN" altLang="en-US" dirty="0">
              <a:latin typeface="微软雅黑" panose="020B0503020204020204" charset="-122"/>
              <a:ea typeface="微软雅黑" panose="020B0503020204020204" charset="-122"/>
              <a:sym typeface="+mn-ea"/>
            </a:endParaRPr>
          </a:p>
          <a:p>
            <a:pPr marL="0" indent="0">
              <a:buNone/>
            </a:pPr>
            <a:r>
              <a:rPr lang="zh-CN" altLang="en-US" b="1" dirty="0">
                <a:latin typeface="微软雅黑" panose="020B0503020204020204" charset="-122"/>
                <a:ea typeface="微软雅黑" panose="020B0503020204020204" charset="-122"/>
                <a:sym typeface="+mn-ea"/>
              </a:rPr>
              <a:t>网络拓扑</a:t>
            </a:r>
            <a:r>
              <a:rPr lang="en-US" altLang="zh-CN" b="1" dirty="0">
                <a:latin typeface="微软雅黑" panose="020B0503020204020204" charset="-122"/>
                <a:ea typeface="微软雅黑" panose="020B0503020204020204" charset="-122"/>
                <a:sym typeface="+mn-ea"/>
              </a:rPr>
              <a:t>&amp;</a:t>
            </a:r>
            <a:r>
              <a:rPr lang="zh-CN" altLang="en-US" b="1" dirty="0">
                <a:latin typeface="微软雅黑" panose="020B0503020204020204" charset="-122"/>
                <a:ea typeface="微软雅黑" panose="020B0503020204020204" charset="-122"/>
                <a:sym typeface="+mn-ea"/>
              </a:rPr>
              <a:t>配置：</a:t>
            </a:r>
            <a:endParaRPr lang="zh-CN" altLang="en-US" b="1" dirty="0">
              <a:latin typeface="微软雅黑" panose="020B0503020204020204" charset="-122"/>
              <a:ea typeface="微软雅黑" panose="020B0503020204020204" charset="-122"/>
              <a:sym typeface="+mn-ea"/>
            </a:endParaRPr>
          </a:p>
          <a:p>
            <a:pPr marL="0" indent="0">
              <a:buNone/>
            </a:pPr>
            <a:r>
              <a:rPr lang="zh-CN" altLang="en-US" dirty="0">
                <a:latin typeface="微软雅黑" panose="020B0503020204020204" charset="-122"/>
                <a:ea typeface="微软雅黑" panose="020B0503020204020204" charset="-122"/>
                <a:sym typeface="+mn-ea"/>
              </a:rPr>
              <a:t>将包含</a:t>
            </a:r>
            <a:r>
              <a:rPr lang="en-US" altLang="zh-CN" dirty="0">
                <a:latin typeface="微软雅黑" panose="020B0503020204020204" charset="-122"/>
                <a:ea typeface="微软雅黑" panose="020B0503020204020204" charset="-122"/>
                <a:sym typeface="+mn-ea"/>
              </a:rPr>
              <a:t>6</a:t>
            </a:r>
            <a:r>
              <a:rPr lang="zh-CN" altLang="en-US" dirty="0">
                <a:latin typeface="微软雅黑" panose="020B0503020204020204" charset="-122"/>
                <a:ea typeface="微软雅黑" panose="020B0503020204020204" charset="-122"/>
                <a:sym typeface="+mn-ea"/>
              </a:rPr>
              <a:t>至</a:t>
            </a:r>
            <a:r>
              <a:rPr lang="en-US" altLang="zh-CN" dirty="0">
                <a:latin typeface="微软雅黑" panose="020B0503020204020204" charset="-122"/>
                <a:ea typeface="微软雅黑" panose="020B0503020204020204" charset="-122"/>
                <a:sym typeface="+mn-ea"/>
              </a:rPr>
              <a:t>32</a:t>
            </a:r>
            <a:r>
              <a:rPr lang="zh-CN" altLang="en-US" dirty="0">
                <a:latin typeface="微软雅黑" panose="020B0503020204020204" charset="-122"/>
                <a:ea typeface="微软雅黑" panose="020B0503020204020204" charset="-122"/>
                <a:sym typeface="+mn-ea"/>
              </a:rPr>
              <a:t>个自治系统的</a:t>
            </a:r>
            <a:r>
              <a:rPr lang="en-US" altLang="zh-CN" dirty="0">
                <a:latin typeface="微软雅黑" panose="020B0503020204020204" charset="-122"/>
                <a:ea typeface="微软雅黑" panose="020B0503020204020204" charset="-122"/>
                <a:sym typeface="+mn-ea"/>
              </a:rPr>
              <a:t>27</a:t>
            </a:r>
            <a:r>
              <a:rPr lang="zh-CN" altLang="en-US" dirty="0">
                <a:latin typeface="微软雅黑" panose="020B0503020204020204" charset="-122"/>
                <a:ea typeface="微软雅黑" panose="020B0503020204020204" charset="-122"/>
                <a:sym typeface="+mn-ea"/>
              </a:rPr>
              <a:t>个合成网络作为数据集。</a:t>
            </a:r>
            <a:endParaRPr lang="zh-CN" altLang="en-US" dirty="0">
              <a:latin typeface="微软雅黑" panose="020B0503020204020204" charset="-122"/>
              <a:ea typeface="微软雅黑" panose="020B0503020204020204" charset="-122"/>
              <a:sym typeface="+mn-ea"/>
            </a:endParaRPr>
          </a:p>
          <a:p>
            <a:pPr marL="0" indent="0">
              <a:buNone/>
            </a:pPr>
            <a:r>
              <a:rPr lang="zh-CN" altLang="en-US" dirty="0">
                <a:latin typeface="微软雅黑" panose="020B0503020204020204" charset="-122"/>
                <a:ea typeface="微软雅黑" panose="020B0503020204020204" charset="-122"/>
                <a:sym typeface="+mn-ea"/>
              </a:rPr>
              <a:t>每个自治系统的路由器包含约</a:t>
            </a:r>
            <a:r>
              <a:rPr lang="en-US" altLang="zh-CN" dirty="0">
                <a:latin typeface="微软雅黑" panose="020B0503020204020204" charset="-122"/>
                <a:ea typeface="微软雅黑" panose="020B0503020204020204" charset="-122"/>
                <a:sym typeface="+mn-ea"/>
              </a:rPr>
              <a:t>100</a:t>
            </a:r>
            <a:r>
              <a:rPr lang="zh-CN" altLang="en-US" dirty="0">
                <a:latin typeface="微软雅黑" panose="020B0503020204020204" charset="-122"/>
                <a:ea typeface="微软雅黑" panose="020B0503020204020204" charset="-122"/>
                <a:sym typeface="+mn-ea"/>
              </a:rPr>
              <a:t>行配置。</a:t>
            </a:r>
            <a:endParaRPr lang="zh-CN" altLang="en-US" dirty="0">
              <a:latin typeface="微软雅黑" panose="020B0503020204020204" charset="-122"/>
              <a:ea typeface="微软雅黑" panose="020B0503020204020204" charset="-122"/>
              <a:sym typeface="+mn-ea"/>
            </a:endParaRPr>
          </a:p>
          <a:p>
            <a:pPr marL="0" indent="0">
              <a:buNone/>
            </a:pPr>
            <a:endParaRPr lang="en-US" altLang="zh-CN" dirty="0"/>
          </a:p>
        </p:txBody>
      </p:sp>
      <p:sp>
        <p:nvSpPr>
          <p:cNvPr id="11" name="文本框 10"/>
          <p:cNvSpPr txBox="1"/>
          <p:nvPr>
            <p:custDataLst>
              <p:tags r:id="rId3"/>
            </p:custDataLst>
          </p:nvPr>
        </p:nvSpPr>
        <p:spPr>
          <a:xfrm>
            <a:off x="1563370" y="3803015"/>
            <a:ext cx="9479280" cy="2081530"/>
          </a:xfrm>
          <a:prstGeom prst="rect">
            <a:avLst/>
          </a:prstGeom>
          <a:noFill/>
        </p:spPr>
        <p:txBody>
          <a:bodyPr wrap="square" rtlCol="0" anchor="t">
            <a:noAutofit/>
          </a:bodyPr>
          <a:lstStyle/>
          <a:p>
            <a:pPr marL="514350" indent="-514350">
              <a:buFont typeface="+mj-lt"/>
              <a:buAutoNum type="arabicPeriod"/>
            </a:pPr>
            <a:endParaRPr lang="zh-CN" altLang="en-US" sz="2800" dirty="0">
              <a:cs typeface="Calibri" panose="020F0502020204030204" charset="0"/>
            </a:endParaRPr>
          </a:p>
          <a:p>
            <a:pPr marL="514350" indent="-514350">
              <a:lnSpc>
                <a:spcPct val="120000"/>
              </a:lnSpc>
              <a:buFont typeface="+mj-lt"/>
              <a:buAutoNum type="arabicPeriod"/>
            </a:pPr>
            <a:r>
              <a:rPr lang="zh-CN" altLang="en-US" sz="2800" dirty="0">
                <a:latin typeface="微软雅黑" panose="020B0503020204020204" charset="-122"/>
                <a:ea typeface="微软雅黑" panose="020B0503020204020204" charset="-122"/>
                <a:cs typeface="+mn-lt"/>
              </a:rPr>
              <a:t>验证结果的正确性。</a:t>
            </a:r>
            <a:endParaRPr lang="en-US" altLang="zh-CN" sz="2800" dirty="0">
              <a:latin typeface="微软雅黑" panose="020B0503020204020204" charset="-122"/>
              <a:ea typeface="微软雅黑" panose="020B0503020204020204" charset="-122"/>
              <a:cs typeface="+mn-lt"/>
            </a:endParaRPr>
          </a:p>
          <a:p>
            <a:pPr marL="514350" indent="-514350">
              <a:lnSpc>
                <a:spcPct val="120000"/>
              </a:lnSpc>
              <a:buFont typeface="+mj-lt"/>
              <a:buAutoNum type="arabicPeriod"/>
            </a:pPr>
            <a:r>
              <a:rPr lang="zh-CN" altLang="en-US" sz="2800" dirty="0">
                <a:latin typeface="微软雅黑" panose="020B0503020204020204" charset="-122"/>
                <a:ea typeface="微软雅黑" panose="020B0503020204020204" charset="-122"/>
                <a:cs typeface="Calibri" panose="020F0502020204030204" charset="0"/>
              </a:rPr>
              <a:t>计算开销。</a:t>
            </a:r>
            <a:endParaRPr lang="zh-CN" altLang="en-US" sz="2800" dirty="0">
              <a:latin typeface="微软雅黑" panose="020B0503020204020204" charset="-122"/>
              <a:ea typeface="微软雅黑" panose="020B0503020204020204" charset="-122"/>
              <a:cs typeface="+mn-lt"/>
            </a:endParaRPr>
          </a:p>
        </p:txBody>
      </p:sp>
      <p:pic>
        <p:nvPicPr>
          <p:cNvPr id="14" name="图片 13" descr="疑问 (1)"/>
          <p:cNvPicPr>
            <a:picLocks noChangeAspect="1"/>
          </p:cNvPicPr>
          <p:nvPr>
            <p:custDataLst>
              <p:tags r:id="rId4"/>
            </p:custDataLst>
          </p:nvPr>
        </p:nvPicPr>
        <p:blipFill>
          <a:blip r:embed="rId5"/>
          <a:stretch>
            <a:fillRect/>
          </a:stretch>
        </p:blipFill>
        <p:spPr>
          <a:xfrm>
            <a:off x="265433" y="4460875"/>
            <a:ext cx="946150" cy="946150"/>
          </a:xfrm>
          <a:prstGeom prst="rect">
            <a:avLst/>
          </a:prstGeom>
        </p:spPr>
      </p:pic>
      <p:sp>
        <p:nvSpPr>
          <p:cNvPr id="10" name="矩形 9"/>
          <p:cNvSpPr/>
          <p:nvPr/>
        </p:nvSpPr>
        <p:spPr>
          <a:xfrm>
            <a:off x="6504305" y="4229735"/>
            <a:ext cx="5202555" cy="946150"/>
          </a:xfrm>
          <a:prstGeom prst="rect">
            <a:avLst/>
          </a:prstGeom>
          <a:solidFill>
            <a:srgbClr val="0B47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charset="-122"/>
                <a:ea typeface="微软雅黑" panose="020B0503020204020204" charset="-122"/>
              </a:rPr>
              <a:t>在所有实验中均产生正确验证结果</a:t>
            </a:r>
            <a:endParaRPr lang="zh-CN" altLang="en-US" sz="2400" dirty="0">
              <a:latin typeface="微软雅黑" panose="020B0503020204020204" charset="-122"/>
              <a:ea typeface="微软雅黑" panose="020B0503020204020204" charset="-122"/>
            </a:endParaRPr>
          </a:p>
        </p:txBody>
      </p:sp>
      <p:sp>
        <p:nvSpPr>
          <p:cNvPr id="12" name="文本框 11"/>
          <p:cNvSpPr txBox="1"/>
          <p:nvPr/>
        </p:nvSpPr>
        <p:spPr>
          <a:xfrm>
            <a:off x="0" y="6529310"/>
            <a:ext cx="11781155" cy="338554"/>
          </a:xfrm>
          <a:prstGeom prst="rect">
            <a:avLst/>
          </a:prstGeom>
          <a:noFill/>
        </p:spPr>
        <p:txBody>
          <a:bodyPr wrap="square" rtlCol="0">
            <a:spAutoFit/>
          </a:bodyPr>
          <a:lstStyle/>
          <a:p>
            <a:r>
              <a:rPr lang="en-US" altLang="zh-CN" sz="1600" dirty="0"/>
              <a:t>[3] Marcel Keller. 2020. MP-SPDZ: A Versatile Framework for Multi-Party Computation. In CCS’20. ACM, 1575–1590. </a:t>
            </a:r>
            <a:endParaRPr lang="zh-CN" altLang="en-US" sz="1600" dirty="0"/>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90805"/>
            <a:ext cx="10730053" cy="707886"/>
          </a:xfrm>
          <a:prstGeom prst="rect">
            <a:avLst/>
          </a:prstGeom>
          <a:noFill/>
        </p:spPr>
        <p:txBody>
          <a:bodyPr wrap="none" rtlCol="0" anchor="t">
            <a:spAutoFit/>
          </a:bodyPr>
          <a:lstStyle/>
          <a:p>
            <a:pPr>
              <a:defRPr/>
            </a:pPr>
            <a:r>
              <a:rPr lang="zh-CN" altLang="en-US" sz="4000" b="1" dirty="0">
                <a:solidFill>
                  <a:srgbClr val="014098"/>
                </a:solidFill>
                <a:latin typeface="微软雅黑" panose="020B0503020204020204" charset="-122"/>
                <a:ea typeface="微软雅黑" panose="020B0503020204020204" charset="-122"/>
                <a:cs typeface="+mj-ea"/>
                <a:sym typeface="+mn-ea"/>
              </a:rPr>
              <a:t>实验：多管理域网络配置验证的计算开销评估</a:t>
            </a:r>
            <a:endParaRPr lang="zh-CN" altLang="en-US" sz="4000" b="1" dirty="0">
              <a:solidFill>
                <a:schemeClr val="accent5">
                  <a:lumMod val="75000"/>
                </a:schemeClr>
              </a:solidFill>
              <a:latin typeface="微软雅黑" panose="020B0503020204020204" charset="-122"/>
              <a:ea typeface="微软雅黑" panose="020B0503020204020204" charset="-122"/>
              <a:cs typeface="+mj-ea"/>
            </a:endParaRPr>
          </a:p>
        </p:txBody>
      </p:sp>
      <p:pic>
        <p:nvPicPr>
          <p:cNvPr id="7" name="图片 6" descr="paper-fig6"/>
          <p:cNvPicPr>
            <a:picLocks noChangeAspect="1"/>
          </p:cNvPicPr>
          <p:nvPr/>
        </p:nvPicPr>
        <p:blipFill>
          <a:blip r:embed="rId3"/>
          <a:stretch>
            <a:fillRect/>
          </a:stretch>
        </p:blipFill>
        <p:spPr>
          <a:xfrm>
            <a:off x="3081020" y="1199515"/>
            <a:ext cx="5745480" cy="3423920"/>
          </a:xfrm>
          <a:prstGeom prst="rect">
            <a:avLst/>
          </a:prstGeom>
        </p:spPr>
      </p:pic>
      <p:sp>
        <p:nvSpPr>
          <p:cNvPr id="9" name="文本框 8"/>
          <p:cNvSpPr txBox="1"/>
          <p:nvPr/>
        </p:nvSpPr>
        <p:spPr>
          <a:xfrm>
            <a:off x="4936490" y="4886007"/>
            <a:ext cx="3162481" cy="460375"/>
          </a:xfrm>
          <a:prstGeom prst="rect">
            <a:avLst/>
          </a:prstGeom>
          <a:noFill/>
        </p:spPr>
        <p:txBody>
          <a:bodyPr wrap="square" rtlCol="0">
            <a:spAutoFit/>
          </a:bodyPr>
          <a:lstStyle/>
          <a:p>
            <a:r>
              <a:rPr lang="zh-CN" altLang="en-US" sz="2400" dirty="0">
                <a:latin typeface="微软雅黑" panose="020B0503020204020204" charset="-122"/>
                <a:ea typeface="微软雅黑" panose="020B0503020204020204" charset="-122"/>
                <a:cs typeface="+mn-ea"/>
              </a:rPr>
              <a:t>原型系统验证时间</a:t>
            </a:r>
            <a:endParaRPr lang="zh-CN" altLang="en-US" sz="2400" dirty="0">
              <a:latin typeface="微软雅黑" panose="020B0503020204020204" charset="-122"/>
              <a:ea typeface="微软雅黑" panose="020B0503020204020204" charset="-122"/>
              <a:cs typeface="+mn-ea"/>
            </a:endParaRPr>
          </a:p>
        </p:txBody>
      </p:sp>
      <p:sp>
        <p:nvSpPr>
          <p:cNvPr id="10" name="文本框 9"/>
          <p:cNvSpPr txBox="1"/>
          <p:nvPr/>
        </p:nvSpPr>
        <p:spPr>
          <a:xfrm>
            <a:off x="1263740" y="5711190"/>
            <a:ext cx="10507980" cy="645160"/>
          </a:xfrm>
          <a:prstGeom prst="rect">
            <a:avLst/>
          </a:prstGeom>
          <a:noFill/>
        </p:spPr>
        <p:txBody>
          <a:bodyPr wrap="square" rtlCol="0">
            <a:spAutoFit/>
          </a:bodyPr>
          <a:lstStyle/>
          <a:p>
            <a:r>
              <a:rPr lang="zh-CN" altLang="en-US" sz="3600" dirty="0">
                <a:latin typeface="微软雅黑" panose="020B0503020204020204" charset="-122"/>
                <a:ea typeface="微软雅黑" panose="020B0503020204020204" charset="-122"/>
                <a:cs typeface="+mn-ea"/>
              </a:rPr>
              <a:t>可以在约</a:t>
            </a:r>
            <a:r>
              <a:rPr lang="en-US" altLang="zh-CN" sz="3600" dirty="0">
                <a:latin typeface="微软雅黑" panose="020B0503020204020204" charset="-122"/>
                <a:ea typeface="微软雅黑" panose="020B0503020204020204" charset="-122"/>
                <a:cs typeface="+mn-ea"/>
              </a:rPr>
              <a:t>52</a:t>
            </a:r>
            <a:r>
              <a:rPr lang="zh-CN" altLang="en-US" sz="3600" dirty="0">
                <a:latin typeface="微软雅黑" panose="020B0503020204020204" charset="-122"/>
                <a:ea typeface="微软雅黑" panose="020B0503020204020204" charset="-122"/>
                <a:cs typeface="+mn-ea"/>
              </a:rPr>
              <a:t>分钟验证包含</a:t>
            </a:r>
            <a:r>
              <a:rPr lang="en-US" altLang="zh-CN" sz="3600" dirty="0">
                <a:latin typeface="微软雅黑" panose="020B0503020204020204" charset="-122"/>
                <a:ea typeface="微软雅黑" panose="020B0503020204020204" charset="-122"/>
                <a:cs typeface="+mn-ea"/>
              </a:rPr>
              <a:t>32</a:t>
            </a:r>
            <a:r>
              <a:rPr lang="zh-CN" altLang="en-US" sz="3600" dirty="0">
                <a:latin typeface="微软雅黑" panose="020B0503020204020204" charset="-122"/>
                <a:ea typeface="微软雅黑" panose="020B0503020204020204" charset="-122"/>
                <a:cs typeface="+mn-ea"/>
              </a:rPr>
              <a:t>个自治系统的网络</a:t>
            </a:r>
            <a:endParaRPr lang="zh-CN" altLang="en-US" sz="3600" dirty="0">
              <a:latin typeface="微软雅黑" panose="020B0503020204020204" charset="-122"/>
              <a:ea typeface="微软雅黑" panose="020B0503020204020204" charset="-122"/>
              <a:cs typeface="+mn-ea"/>
            </a:endParaRPr>
          </a:p>
        </p:txBody>
      </p:sp>
      <p:sp>
        <p:nvSpPr>
          <p:cNvPr id="8" name="灯片编号占位符 7"/>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90805"/>
            <a:ext cx="10730053" cy="707886"/>
          </a:xfrm>
          <a:prstGeom prst="rect">
            <a:avLst/>
          </a:prstGeom>
          <a:noFill/>
        </p:spPr>
        <p:txBody>
          <a:bodyPr wrap="none" rtlCol="0" anchor="t">
            <a:spAutoFit/>
          </a:bodyPr>
          <a:lstStyle/>
          <a:p>
            <a:pPr>
              <a:defRPr/>
            </a:pPr>
            <a:r>
              <a:rPr lang="zh-CN" altLang="en-US" sz="4000" b="1" dirty="0">
                <a:solidFill>
                  <a:srgbClr val="014098"/>
                </a:solidFill>
                <a:latin typeface="微软雅黑" panose="020B0503020204020204" charset="-122"/>
                <a:ea typeface="微软雅黑" panose="020B0503020204020204" charset="-122"/>
                <a:cs typeface="+mj-ea"/>
                <a:sym typeface="+mn-ea"/>
              </a:rPr>
              <a:t>实验：多管理域网络配置验证的计算开销评估</a:t>
            </a:r>
            <a:endParaRPr lang="zh-CN" altLang="en-US" sz="4000" b="1" dirty="0">
              <a:solidFill>
                <a:schemeClr val="accent5">
                  <a:lumMod val="75000"/>
                </a:schemeClr>
              </a:solidFill>
              <a:latin typeface="微软雅黑" panose="020B0503020204020204" charset="-122"/>
              <a:ea typeface="微软雅黑" panose="020B0503020204020204" charset="-122"/>
              <a:cs typeface="+mj-ea"/>
            </a:endParaRPr>
          </a:p>
        </p:txBody>
      </p:sp>
      <p:sp>
        <p:nvSpPr>
          <p:cNvPr id="10" name="文本框 9"/>
          <p:cNvSpPr txBox="1"/>
          <p:nvPr/>
        </p:nvSpPr>
        <p:spPr>
          <a:xfrm>
            <a:off x="1535430" y="5337810"/>
            <a:ext cx="11258550" cy="645160"/>
          </a:xfrm>
          <a:prstGeom prst="rect">
            <a:avLst/>
          </a:prstGeom>
          <a:noFill/>
        </p:spPr>
        <p:txBody>
          <a:bodyPr wrap="square" rtlCol="0">
            <a:spAutoFit/>
          </a:bodyPr>
          <a:lstStyle/>
          <a:p>
            <a:r>
              <a:rPr lang="zh-CN" altLang="en-US" sz="3600" dirty="0">
                <a:latin typeface="微软雅黑" panose="020B0503020204020204" charset="-122"/>
                <a:ea typeface="微软雅黑" panose="020B0503020204020204" charset="-122"/>
                <a:cs typeface="+mn-ea"/>
              </a:rPr>
              <a:t>对于中小型的网络的通信开销是可接受的</a:t>
            </a:r>
            <a:endParaRPr lang="zh-CN" altLang="en-US" sz="3600" dirty="0">
              <a:latin typeface="微软雅黑" panose="020B0503020204020204" charset="-122"/>
              <a:ea typeface="微软雅黑" panose="020B0503020204020204" charset="-122"/>
              <a:cs typeface="+mn-ea"/>
            </a:endParaRPr>
          </a:p>
        </p:txBody>
      </p:sp>
      <p:pic>
        <p:nvPicPr>
          <p:cNvPr id="8" name="图片 7"/>
          <p:cNvPicPr>
            <a:picLocks noChangeAspect="1"/>
          </p:cNvPicPr>
          <p:nvPr/>
        </p:nvPicPr>
        <p:blipFill>
          <a:blip r:embed="rId3"/>
          <a:stretch>
            <a:fillRect/>
          </a:stretch>
        </p:blipFill>
        <p:spPr>
          <a:xfrm>
            <a:off x="564515" y="1684655"/>
            <a:ext cx="4859020" cy="2873375"/>
          </a:xfrm>
          <a:prstGeom prst="rect">
            <a:avLst/>
          </a:prstGeom>
        </p:spPr>
      </p:pic>
      <p:pic>
        <p:nvPicPr>
          <p:cNvPr id="3" name="图片 2"/>
          <p:cNvPicPr>
            <a:picLocks noChangeAspect="1"/>
          </p:cNvPicPr>
          <p:nvPr/>
        </p:nvPicPr>
        <p:blipFill>
          <a:blip r:embed="rId4"/>
          <a:stretch>
            <a:fillRect/>
          </a:stretch>
        </p:blipFill>
        <p:spPr>
          <a:xfrm>
            <a:off x="6483985" y="1684655"/>
            <a:ext cx="4813935" cy="2873375"/>
          </a:xfrm>
          <a:prstGeom prst="rect">
            <a:avLst/>
          </a:prstGeom>
        </p:spPr>
      </p:pic>
      <p:sp>
        <p:nvSpPr>
          <p:cNvPr id="9" name="矩形 8"/>
          <p:cNvSpPr/>
          <p:nvPr/>
        </p:nvSpPr>
        <p:spPr>
          <a:xfrm>
            <a:off x="909320" y="2148205"/>
            <a:ext cx="10638155" cy="1358265"/>
          </a:xfrm>
          <a:prstGeom prst="rect">
            <a:avLst/>
          </a:prstGeom>
          <a:solidFill>
            <a:srgbClr val="0B47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latin typeface="微软雅黑" panose="020B0503020204020204" charset="-122"/>
                <a:ea typeface="微软雅黑" panose="020B0503020204020204" charset="-122"/>
                <a:sym typeface="+mn-ea"/>
              </a:rPr>
              <a:t>初步结果表明了多管理域网络验证的可行性</a:t>
            </a:r>
            <a:endParaRPr lang="zh-CN" altLang="en-US" sz="4000" b="1" dirty="0">
              <a:latin typeface="微软雅黑" panose="020B0503020204020204" charset="-122"/>
              <a:ea typeface="微软雅黑" panose="020B0503020204020204" charset="-122"/>
              <a:sym typeface="+mn-ea"/>
            </a:endParaRPr>
          </a:p>
        </p:txBody>
      </p:sp>
      <p:sp>
        <p:nvSpPr>
          <p:cNvPr id="11" name="灯片编号占位符 10"/>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417505" y="81773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6662" y="51220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4" name="文本框 3"/>
          <p:cNvSpPr txBox="1"/>
          <p:nvPr/>
        </p:nvSpPr>
        <p:spPr>
          <a:xfrm>
            <a:off x="417195" y="90805"/>
            <a:ext cx="1200150" cy="706755"/>
          </a:xfrm>
          <a:prstGeom prst="rect">
            <a:avLst/>
          </a:prstGeom>
          <a:noFill/>
        </p:spPr>
        <p:txBody>
          <a:bodyPr wrap="none" rtlCol="0" anchor="t">
            <a:spAutoFit/>
          </a:bodyPr>
          <a:lstStyle/>
          <a:p>
            <a:pPr algn="l">
              <a:defRPr/>
            </a:pPr>
            <a:r>
              <a:rPr lang="zh-CN" altLang="en-US" sz="4000" b="1">
                <a:solidFill>
                  <a:schemeClr val="accent5">
                    <a:lumMod val="75000"/>
                  </a:schemeClr>
                </a:solidFill>
              </a:rPr>
              <a:t>总结</a:t>
            </a:r>
            <a:endParaRPr lang="zh-CN" altLang="en-US" sz="4000" b="1">
              <a:solidFill>
                <a:schemeClr val="accent5">
                  <a:lumMod val="75000"/>
                </a:schemeClr>
              </a:solidFill>
            </a:endParaRPr>
          </a:p>
        </p:txBody>
      </p:sp>
      <p:sp>
        <p:nvSpPr>
          <p:cNvPr id="3" name="文本框 2"/>
          <p:cNvSpPr txBox="1"/>
          <p:nvPr/>
        </p:nvSpPr>
        <p:spPr>
          <a:xfrm>
            <a:off x="576580" y="1225550"/>
            <a:ext cx="10474325" cy="1955215"/>
          </a:xfrm>
          <a:prstGeom prst="rect">
            <a:avLst/>
          </a:prstGeom>
          <a:noFill/>
        </p:spPr>
        <p:txBody>
          <a:bodyPr wrap="square" rtlCol="0">
            <a:spAutoFit/>
          </a:bodyPr>
          <a:lstStyle/>
          <a:p>
            <a:pPr marL="285750" indent="-285750">
              <a:lnSpc>
                <a:spcPct val="110000"/>
              </a:lnSpc>
              <a:buFont typeface="Arial" panose="020B0604020202020204" pitchFamily="34" charset="0"/>
              <a:buChar char="•"/>
            </a:pPr>
            <a:r>
              <a:rPr lang="zh-CN" altLang="en-US" sz="2800" dirty="0">
                <a:latin typeface="微软雅黑" panose="020B0503020204020204" charset="-122"/>
                <a:ea typeface="微软雅黑" panose="020B0503020204020204" charset="-122"/>
                <a:cs typeface="+mn-ea"/>
              </a:rPr>
              <a:t>本研究是向多管理域网络配置验证研究迈出的探索性一步。</a:t>
            </a:r>
            <a:endParaRPr lang="zh-CN" altLang="en-US" sz="2800" dirty="0">
              <a:latin typeface="微软雅黑" panose="020B0503020204020204" charset="-122"/>
              <a:ea typeface="微软雅黑" panose="020B0503020204020204" charset="-122"/>
              <a:cs typeface="+mn-ea"/>
            </a:endParaRPr>
          </a:p>
          <a:p>
            <a:pPr marL="285750" indent="-285750">
              <a:lnSpc>
                <a:spcPct val="110000"/>
              </a:lnSpc>
              <a:buFont typeface="Arial" panose="020B0604020202020204" pitchFamily="34" charset="0"/>
              <a:buChar char="•"/>
            </a:pPr>
            <a:r>
              <a:rPr lang="zh-CN" altLang="en-US" sz="2800" dirty="0">
                <a:latin typeface="微软雅黑" panose="020B0503020204020204" charset="-122"/>
                <a:ea typeface="微软雅黑" panose="020B0503020204020204" charset="-122"/>
                <a:cs typeface="+mn-ea"/>
              </a:rPr>
              <a:t>本研究有助于实现大规模多管理域网络的快速、高效验证，显著降低大规模多管理域网络的组网及维护难度。</a:t>
            </a:r>
            <a:endParaRPr lang="en-US" altLang="zh-CN" sz="2800" dirty="0">
              <a:latin typeface="微软雅黑" panose="020B0503020204020204" charset="-122"/>
              <a:ea typeface="微软雅黑" panose="020B0503020204020204" charset="-122"/>
              <a:cs typeface="+mn-ea"/>
            </a:endParaRPr>
          </a:p>
          <a:p>
            <a:pPr>
              <a:lnSpc>
                <a:spcPct val="110000"/>
              </a:lnSpc>
            </a:pPr>
            <a:endParaRPr lang="en-US" altLang="zh-CN" sz="2800" dirty="0">
              <a:latin typeface="微软雅黑" panose="020B0503020204020204" charset="-122"/>
              <a:ea typeface="微软雅黑" panose="020B0503020204020204" charset="-122"/>
              <a:cs typeface="+mn-ea"/>
              <a:sym typeface="+mn-ea"/>
            </a:endParaRPr>
          </a:p>
        </p:txBody>
      </p:sp>
      <p:sp>
        <p:nvSpPr>
          <p:cNvPr id="11" name="灯片编号占位符 10"/>
          <p:cNvSpPr>
            <a:spLocks noGrp="1"/>
          </p:cNvSpPr>
          <p:nvPr>
            <p:ph type="sldNum" sz="quarter" idx="12"/>
          </p:nvPr>
        </p:nvSpPr>
        <p:spPr/>
        <p:txBody>
          <a:bodyPr/>
          <a:lstStyle/>
          <a:p>
            <a:fld id="{7D9BB5D0-35E4-459D-AEF3-FE4D7C45CC19}" type="slidenum">
              <a:rPr lang="zh-CN" altLang="en-US" smtClean="0"/>
            </a:fld>
            <a:endParaRPr lang="zh-CN" altLang="en-US"/>
          </a:p>
        </p:txBody>
      </p:sp>
      <p:graphicFrame>
        <p:nvGraphicFramePr>
          <p:cNvPr id="2" name="表格 1"/>
          <p:cNvGraphicFramePr>
            <a:graphicFrameLocks noGrp="1"/>
          </p:cNvGraphicFramePr>
          <p:nvPr/>
        </p:nvGraphicFramePr>
        <p:xfrm>
          <a:off x="1584642" y="3355218"/>
          <a:ext cx="8573771" cy="3245898"/>
        </p:xfrm>
        <a:graphic>
          <a:graphicData uri="http://schemas.openxmlformats.org/drawingml/2006/table">
            <a:tbl>
              <a:tblPr firstRow="1" firstCol="1" bandRow="1">
                <a:tableStyleId>{5C22544A-7EE6-4342-B048-85BDC9FD1C3A}</a:tableStyleId>
              </a:tblPr>
              <a:tblGrid>
                <a:gridCol w="1370911"/>
                <a:gridCol w="3659503"/>
                <a:gridCol w="1247396"/>
                <a:gridCol w="2295961"/>
              </a:tblGrid>
              <a:tr h="443133">
                <a:tc>
                  <a:txBody>
                    <a:bodyPr/>
                    <a:lstStyle/>
                    <a:p>
                      <a:pPr algn="ctr">
                        <a:lnSpc>
                          <a:spcPct val="150000"/>
                        </a:lnSpc>
                        <a:spcAft>
                          <a:spcPts val="0"/>
                        </a:spcAft>
                      </a:pPr>
                      <a:r>
                        <a:rPr lang="zh-CN" sz="1600" kern="100">
                          <a:effectLst/>
                        </a:rPr>
                        <a:t>成果</a:t>
                      </a:r>
                      <a:endParaRPr lang="zh-CN" sz="16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zh-CN" sz="1600" kern="100">
                          <a:effectLst/>
                        </a:rPr>
                        <a:t>名称</a:t>
                      </a:r>
                      <a:endParaRPr lang="zh-CN" sz="16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zh-CN" sz="1600" kern="100">
                          <a:effectLst/>
                        </a:rPr>
                        <a:t>状态</a:t>
                      </a:r>
                      <a:endParaRPr lang="zh-CN" sz="16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zh-CN" altLang="en-US" sz="1600" kern="100" dirty="0">
                          <a:effectLst/>
                          <a:latin typeface="Times New Roman" panose="02020603050405020304" pitchFamily="18" charset="0"/>
                          <a:ea typeface="宋体" panose="02010600030101010101" pitchFamily="2" charset="-122"/>
                        </a:rPr>
                        <a:t>作者</a:t>
                      </a:r>
                      <a:endParaRPr lang="zh-CN" sz="1600" kern="100" dirty="0">
                        <a:effectLst/>
                        <a:latin typeface="Times New Roman" panose="02020603050405020304" pitchFamily="18" charset="0"/>
                        <a:ea typeface="宋体" panose="02010600030101010101" pitchFamily="2" charset="-122"/>
                      </a:endParaRPr>
                    </a:p>
                  </a:txBody>
                  <a:tcPr marL="68580" marR="68580" marT="0" marB="0"/>
                </a:tc>
              </a:tr>
              <a:tr h="1852199">
                <a:tc>
                  <a:txBody>
                    <a:bodyPr/>
                    <a:lstStyle/>
                    <a:p>
                      <a:pPr algn="ctr">
                        <a:lnSpc>
                          <a:spcPct val="150000"/>
                        </a:lnSpc>
                        <a:spcAft>
                          <a:spcPts val="0"/>
                        </a:spcAft>
                      </a:pPr>
                      <a:r>
                        <a:rPr lang="zh-CN" sz="1600" kern="100">
                          <a:effectLst/>
                        </a:rPr>
                        <a:t>论文</a:t>
                      </a:r>
                      <a:endParaRPr lang="zh-CN" sz="16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zh-CN" sz="1600" kern="100">
                          <a:effectLst/>
                        </a:rPr>
                        <a:t>《</a:t>
                      </a:r>
                      <a:r>
                        <a:rPr lang="en-US" sz="1600" kern="100">
                          <a:effectLst/>
                        </a:rPr>
                        <a:t>Toward Privacy-Preserving Interdomain Configuration</a:t>
                      </a:r>
                      <a:br>
                        <a:rPr lang="en-US" sz="1600" kern="100">
                          <a:effectLst/>
                        </a:rPr>
                      </a:br>
                      <a:r>
                        <a:rPr lang="en-US" sz="1600" kern="100">
                          <a:effectLst/>
                        </a:rPr>
                        <a:t>Verification via Multi-Party Computation</a:t>
                      </a:r>
                      <a:r>
                        <a:rPr lang="zh-CN" sz="1600" kern="100">
                          <a:effectLst/>
                        </a:rPr>
                        <a:t>》</a:t>
                      </a:r>
                      <a:endParaRPr lang="zh-CN" sz="1600" kern="1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sz="1600" kern="100" dirty="0">
                          <a:effectLst/>
                        </a:rPr>
                        <a:t>已发表</a:t>
                      </a:r>
                      <a:r>
                        <a:rPr lang="zh-CN" altLang="en-US" sz="1600" kern="100" dirty="0">
                          <a:effectLst/>
                        </a:rPr>
                        <a:t>在</a:t>
                      </a:r>
                      <a:r>
                        <a:rPr lang="en-US" altLang="zh-CN" sz="1600" kern="100" dirty="0">
                          <a:effectLst/>
                        </a:rPr>
                        <a:t>ACM APNET’23</a:t>
                      </a:r>
                      <a:r>
                        <a:rPr lang="zh-CN" altLang="zh-CN" sz="1600" kern="100" dirty="0">
                          <a:effectLst/>
                        </a:rPr>
                        <a:t>（</a:t>
                      </a:r>
                      <a:r>
                        <a:rPr lang="en-US" altLang="zh-CN" sz="1600" kern="100" dirty="0">
                          <a:effectLst/>
                        </a:rPr>
                        <a:t>CCF C</a:t>
                      </a:r>
                      <a:r>
                        <a:rPr lang="zh-CN" altLang="zh-CN" sz="1600" kern="100" dirty="0">
                          <a:effectLst/>
                        </a:rPr>
                        <a:t>类）</a:t>
                      </a:r>
                      <a:endParaRPr lang="zh-CN" altLang="zh-CN" sz="1600" kern="100" dirty="0">
                        <a:effectLst/>
                        <a:latin typeface="Times New Roman" panose="02020603050405020304" pitchFamily="18" charset="0"/>
                        <a:ea typeface="+mn-ea"/>
                      </a:endParaRPr>
                    </a:p>
                    <a:p>
                      <a:pPr algn="ctr">
                        <a:lnSpc>
                          <a:spcPct val="150000"/>
                        </a:lnSpc>
                        <a:spcAft>
                          <a:spcPts val="0"/>
                        </a:spcAft>
                      </a:pPr>
                      <a:endParaRPr lang="zh-CN" sz="16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en-US" altLang="zh-CN" sz="1600" kern="100" dirty="0">
                          <a:effectLst/>
                          <a:latin typeface="Times New Roman" panose="02020603050405020304" pitchFamily="18" charset="0"/>
                          <a:ea typeface="+mn-ea"/>
                        </a:rPr>
                        <a:t>Huisan Xu;</a:t>
                      </a:r>
                      <a:endParaRPr lang="en-US" altLang="zh-CN" sz="1600" kern="100" dirty="0">
                        <a:effectLst/>
                        <a:latin typeface="Times New Roman" panose="02020603050405020304" pitchFamily="18" charset="0"/>
                        <a:ea typeface="+mn-ea"/>
                      </a:endParaRPr>
                    </a:p>
                    <a:p>
                      <a:pPr algn="ctr">
                        <a:lnSpc>
                          <a:spcPct val="150000"/>
                        </a:lnSpc>
                        <a:spcAft>
                          <a:spcPts val="0"/>
                        </a:spcAft>
                      </a:pPr>
                      <a:r>
                        <a:rPr lang="en-US" altLang="zh-CN" sz="1600" kern="100" dirty="0">
                          <a:effectLst/>
                          <a:latin typeface="Times New Roman" panose="02020603050405020304" pitchFamily="18" charset="0"/>
                          <a:ea typeface="+mn-ea"/>
                        </a:rPr>
                        <a:t>  </a:t>
                      </a:r>
                      <a:r>
                        <a:rPr lang="en-US" altLang="zh-CN" sz="1600" kern="100" dirty="0" err="1">
                          <a:effectLst/>
                          <a:latin typeface="Times New Roman" panose="02020603050405020304" pitchFamily="18" charset="0"/>
                          <a:ea typeface="+mn-ea"/>
                        </a:rPr>
                        <a:t>Qiuyue</a:t>
                      </a:r>
                      <a:r>
                        <a:rPr lang="en-US" altLang="zh-CN" sz="1600" kern="100" dirty="0">
                          <a:effectLst/>
                          <a:latin typeface="Times New Roman" panose="02020603050405020304" pitchFamily="18" charset="0"/>
                          <a:ea typeface="+mn-ea"/>
                        </a:rPr>
                        <a:t> Qin;</a:t>
                      </a:r>
                      <a:endParaRPr lang="en-US" altLang="zh-CN" sz="1600" kern="100" dirty="0">
                        <a:effectLst/>
                        <a:latin typeface="Times New Roman" panose="02020603050405020304" pitchFamily="18" charset="0"/>
                        <a:ea typeface="+mn-ea"/>
                      </a:endParaRPr>
                    </a:p>
                    <a:p>
                      <a:pPr marL="0" marR="0" lvl="0" indent="0" algn="ctr" defTabSz="914400" rtl="0" eaLnBrk="1" fontAlgn="auto" latinLnBrk="0" hangingPunct="1">
                        <a:lnSpc>
                          <a:spcPct val="150000"/>
                        </a:lnSpc>
                        <a:spcBef>
                          <a:spcPts val="0"/>
                        </a:spcBef>
                        <a:spcAft>
                          <a:spcPts val="0"/>
                        </a:spcAft>
                        <a:buClrTx/>
                        <a:buSzTx/>
                        <a:buFontTx/>
                        <a:buNone/>
                        <a:defRPr/>
                      </a:pPr>
                      <a:r>
                        <a:rPr lang="en-US" altLang="zh-CN" sz="1600" kern="100" dirty="0">
                          <a:effectLst/>
                          <a:latin typeface="Times New Roman" panose="02020603050405020304" pitchFamily="18" charset="0"/>
                          <a:ea typeface="+mn-ea"/>
                        </a:rPr>
                        <a:t>  Xing Fang;</a:t>
                      </a:r>
                      <a:endParaRPr lang="en-US" altLang="zh-CN" sz="1600" kern="100" dirty="0">
                        <a:effectLst/>
                        <a:latin typeface="Times New Roman" panose="02020603050405020304" pitchFamily="18" charset="0"/>
                        <a:ea typeface="+mn-ea"/>
                      </a:endParaRPr>
                    </a:p>
                    <a:p>
                      <a:pPr marL="0" marR="0" lvl="0" indent="0" algn="ctr" defTabSz="914400" rtl="0" eaLnBrk="1" fontAlgn="auto" latinLnBrk="0" hangingPunct="1">
                        <a:lnSpc>
                          <a:spcPct val="150000"/>
                        </a:lnSpc>
                        <a:spcBef>
                          <a:spcPts val="0"/>
                        </a:spcBef>
                        <a:spcAft>
                          <a:spcPts val="0"/>
                        </a:spcAft>
                        <a:buClrTx/>
                        <a:buSzTx/>
                        <a:buFontTx/>
                        <a:buNone/>
                        <a:defRPr/>
                      </a:pPr>
                      <a:r>
                        <a:rPr lang="en-US" altLang="zh-CN" sz="1600" kern="100" dirty="0" err="1">
                          <a:effectLst/>
                          <a:latin typeface="Times New Roman" panose="02020603050405020304" pitchFamily="18" charset="0"/>
                          <a:ea typeface="+mn-ea"/>
                        </a:rPr>
                        <a:t>Qiao</a:t>
                      </a:r>
                      <a:r>
                        <a:rPr lang="en-US" altLang="zh-CN" sz="1600" kern="100" dirty="0">
                          <a:effectLst/>
                          <a:latin typeface="Times New Roman" panose="02020603050405020304" pitchFamily="18" charset="0"/>
                          <a:ea typeface="+mn-ea"/>
                        </a:rPr>
                        <a:t> Xiang;</a:t>
                      </a:r>
                      <a:endParaRPr lang="en-US" altLang="zh-CN" sz="1600" kern="100" dirty="0">
                        <a:effectLst/>
                        <a:latin typeface="Times New Roman" panose="02020603050405020304" pitchFamily="18" charset="0"/>
                        <a:ea typeface="+mn-ea"/>
                      </a:endParaRPr>
                    </a:p>
                    <a:p>
                      <a:pPr algn="ctr">
                        <a:lnSpc>
                          <a:spcPct val="150000"/>
                        </a:lnSpc>
                        <a:spcAft>
                          <a:spcPts val="0"/>
                        </a:spcAft>
                      </a:pPr>
                      <a:r>
                        <a:rPr lang="en-US" altLang="zh-CN" sz="1600" kern="100" dirty="0">
                          <a:effectLst/>
                          <a:latin typeface="Times New Roman" panose="02020603050405020304" pitchFamily="18" charset="0"/>
                          <a:ea typeface="+mn-ea"/>
                        </a:rPr>
                        <a:t>  </a:t>
                      </a:r>
                      <a:r>
                        <a:rPr lang="en-US" altLang="zh-CN" sz="1600" kern="100" dirty="0" err="1">
                          <a:effectLst/>
                          <a:latin typeface="Times New Roman" panose="02020603050405020304" pitchFamily="18" charset="0"/>
                          <a:ea typeface="+mn-ea"/>
                        </a:rPr>
                        <a:t>Jiwu</a:t>
                      </a:r>
                      <a:r>
                        <a:rPr lang="en-US" altLang="zh-CN" sz="1600" kern="100" dirty="0">
                          <a:effectLst/>
                          <a:latin typeface="Times New Roman" panose="02020603050405020304" pitchFamily="18" charset="0"/>
                          <a:ea typeface="+mn-ea"/>
                        </a:rPr>
                        <a:t> Shu</a:t>
                      </a:r>
                      <a:endParaRPr lang="zh-CN" sz="1600" kern="100" dirty="0">
                        <a:effectLst/>
                        <a:latin typeface="Times New Roman" panose="02020603050405020304" pitchFamily="18" charset="0"/>
                        <a:ea typeface="宋体" panose="02010600030101010101" pitchFamily="2" charset="-122"/>
                      </a:endParaRPr>
                    </a:p>
                  </a:txBody>
                  <a:tcPr marL="68580" marR="68580" marT="0" marB="0"/>
                </a:tc>
              </a:tr>
              <a:tr h="950566">
                <a:tc>
                  <a:txBody>
                    <a:bodyPr/>
                    <a:lstStyle/>
                    <a:p>
                      <a:pPr algn="ctr">
                        <a:lnSpc>
                          <a:spcPct val="150000"/>
                        </a:lnSpc>
                        <a:spcAft>
                          <a:spcPts val="0"/>
                        </a:spcAft>
                      </a:pPr>
                      <a:r>
                        <a:rPr lang="zh-CN" sz="1600" kern="100">
                          <a:effectLst/>
                        </a:rPr>
                        <a:t>国内专利</a:t>
                      </a:r>
                      <a:endParaRPr lang="zh-CN" sz="16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zh-CN" sz="1600" kern="100" dirty="0">
                          <a:effectLst/>
                        </a:rPr>
                        <a:t>《多管理</a:t>
                      </a:r>
                      <a:r>
                        <a:rPr lang="zh-CN" altLang="en-US" sz="1600" kern="100" dirty="0">
                          <a:effectLst/>
                        </a:rPr>
                        <a:t>域</a:t>
                      </a:r>
                      <a:r>
                        <a:rPr lang="zh-CN" sz="1600" kern="100" dirty="0">
                          <a:effectLst/>
                        </a:rPr>
                        <a:t>网络验证方法及系统》</a:t>
                      </a:r>
                      <a:endParaRPr lang="zh-CN" sz="16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zh-CN" sz="1600" kern="100">
                          <a:effectLst/>
                        </a:rPr>
                        <a:t>已受理并初审合格</a:t>
                      </a:r>
                      <a:endParaRPr lang="zh-CN" sz="16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spcAft>
                          <a:spcPts val="0"/>
                        </a:spcAft>
                      </a:pPr>
                      <a:r>
                        <a:rPr lang="zh-CN" altLang="en-US" sz="1600" kern="100" dirty="0">
                          <a:effectLst/>
                        </a:rPr>
                        <a:t>向乔、秦秋月、徐惠三、方星、舒继武</a:t>
                      </a:r>
                      <a:r>
                        <a:rPr lang="en-US" sz="1600" kern="100" dirty="0">
                          <a:effectLst/>
                        </a:rPr>
                        <a:t> </a:t>
                      </a:r>
                      <a:endParaRPr lang="zh-CN" sz="1600" kern="100" dirty="0">
                        <a:effectLst/>
                        <a:latin typeface="Times New Roman" panose="02020603050405020304" pitchFamily="18" charset="0"/>
                        <a:ea typeface="宋体" panose="02010600030101010101" pitchFamily="2" charset="-122"/>
                      </a:endParaRPr>
                    </a:p>
                  </a:txBody>
                  <a:tcPr marL="68580" marR="68580" marT="0" marB="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9395" y="0"/>
            <a:ext cx="12431395" cy="3429000"/>
          </a:xfrm>
          <a:prstGeom prst="rect">
            <a:avLst/>
          </a:prstGeom>
          <a:solidFill>
            <a:srgbClr val="01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472C4"/>
              </a:solidFill>
            </a:endParaRPr>
          </a:p>
        </p:txBody>
      </p:sp>
      <p:sp>
        <p:nvSpPr>
          <p:cNvPr id="6" name="TextBox 5"/>
          <p:cNvSpPr txBox="1"/>
          <p:nvPr/>
        </p:nvSpPr>
        <p:spPr>
          <a:xfrm>
            <a:off x="3077845" y="3693160"/>
            <a:ext cx="6035675" cy="1645920"/>
          </a:xfrm>
          <a:prstGeom prst="rect">
            <a:avLst/>
          </a:prstGeom>
          <a:noFill/>
        </p:spPr>
        <p:txBody>
          <a:bodyPr wrap="none" rtlCol="0">
            <a:noAutofit/>
          </a:bodyPr>
          <a:lstStyle/>
          <a:p>
            <a:r>
              <a:rPr lang="zh-CN" altLang="en-US" sz="9600" b="1" dirty="0">
                <a:solidFill>
                  <a:srgbClr val="014098"/>
                </a:solidFill>
                <a:latin typeface="微软雅黑" panose="020B0503020204020204" charset="-122"/>
                <a:ea typeface="微软雅黑" panose="020B0503020204020204" charset="-122"/>
                <a:cs typeface="Calibri" panose="020F0502020204030204" charset="0"/>
              </a:rPr>
              <a:t>感谢倾听！</a:t>
            </a:r>
            <a:endParaRPr lang="zh-CN" altLang="en-US" sz="9600" b="1" dirty="0">
              <a:solidFill>
                <a:srgbClr val="014098"/>
              </a:solidFill>
              <a:latin typeface="微软雅黑" panose="020B0503020204020204" charset="-122"/>
              <a:ea typeface="微软雅黑" panose="020B0503020204020204" charset="-122"/>
              <a:cs typeface="Calibri" panose="020F0502020204030204" charset="0"/>
            </a:endParaRPr>
          </a:p>
        </p:txBody>
      </p:sp>
    </p:spTree>
    <p:custDataLst>
      <p:tags r:id="rId1"/>
    </p:custDataLst>
  </p:cSld>
  <p:clrMapOvr>
    <a:masterClrMapping/>
  </p:clrMapOvr>
</p:sld>
</file>

<file path=ppt/tags/tag1.xml><?xml version="1.0" encoding="utf-8"?>
<p:tagLst xmlns:p="http://schemas.openxmlformats.org/presentationml/2006/main">
  <p:tag name="MH" val="20160830110547"/>
  <p:tag name="MH_LIBRARY" val="CONTENTS"/>
  <p:tag name="MH_TYPE" val="OTHERS"/>
  <p:tag name="ID" val="545840"/>
</p:tagLst>
</file>

<file path=ppt/tags/tag2.xml><?xml version="1.0" encoding="utf-8"?>
<p:tagLst xmlns:p="http://schemas.openxmlformats.org/presentationml/2006/main">
  <p:tag name="MH" val="20160830110547"/>
  <p:tag name="MH_LIBRARY" val="CONTENTS"/>
  <p:tag name="MH_TYPE" val="OTHERS"/>
  <p:tag name="ID" val="545840"/>
</p:tagLst>
</file>

<file path=ppt/tags/tag3.xml><?xml version="1.0" encoding="utf-8"?>
<p:tagLst xmlns:p="http://schemas.openxmlformats.org/presentationml/2006/main">
  <p:tag name="MH" val="20160830110547"/>
  <p:tag name="MH_LIBRARY" val="CONTENTS"/>
  <p:tag name="MH_TYPE" val="OTHERS"/>
  <p:tag name="ID" val="545840"/>
</p:tagLst>
</file>

<file path=ppt/tags/tag4.xml><?xml version="1.0" encoding="utf-8"?>
<p:tagLst xmlns:p="http://schemas.openxmlformats.org/presentationml/2006/main">
  <p:tag name="MH" val="20160830110547"/>
  <p:tag name="MH_LIBRARY" val="CONTENTS"/>
  <p:tag name="MH_TYPE" val="OTHERS"/>
  <p:tag name="ID" val="545840"/>
</p:tagLst>
</file>

<file path=ppt/tags/tag5.xml><?xml version="1.0" encoding="utf-8"?>
<p:tagLst xmlns:p="http://schemas.openxmlformats.org/presentationml/2006/main">
  <p:tag name="MH" val="20160830110547"/>
  <p:tag name="MH_LIBRARY" val="CONTENTS"/>
  <p:tag name="MH_TYPE" val="OTHERS"/>
  <p:tag name="ID" val="545840"/>
</p:tagLst>
</file>

<file path=ppt/tags/tag6.xml><?xml version="1.0" encoding="utf-8"?>
<p:tagLst xmlns:p="http://schemas.openxmlformats.org/presentationml/2006/main">
  <p:tag name="MH" val="20160830110547"/>
  <p:tag name="MH_LIBRARY" val="CONTENTS"/>
  <p:tag name="MH_TYPE" val="OTHERS"/>
  <p:tag name="ID" val="545840"/>
</p:tagLst>
</file>

<file path=ppt/tags/tag7.xml><?xml version="1.0" encoding="utf-8"?>
<p:tagLst xmlns:p="http://schemas.openxmlformats.org/presentationml/2006/main">
  <p:tag name="MH" val="20160830110547"/>
  <p:tag name="MH_LIBRARY" val="CONTENTS"/>
  <p:tag name="MH_TYPE" val="OTHERS"/>
  <p:tag name="ID" val="545840"/>
</p:tagLst>
</file>

<file path=ppt/tags/tag8.xml><?xml version="1.0" encoding="utf-8"?>
<p:tagLst xmlns:p="http://schemas.openxmlformats.org/presentationml/2006/main">
  <p:tag name="MH" val="20160830110547"/>
  <p:tag name="MH_LIBRARY" val="CONTENTS"/>
  <p:tag name="MH_TYPE" val="OTHERS"/>
  <p:tag name="ID" val="545840"/>
</p:tagLst>
</file>

<file path=ppt/tags/tag9.xml><?xml version="1.0" encoding="utf-8"?>
<p:tagLst xmlns:p="http://schemas.openxmlformats.org/presentationml/2006/main">
  <p:tag name="MH" val="20160830110547"/>
  <p:tag name="MH_LIBRARY" val="CONTENTS"/>
  <p:tag name="MH_TYPE" val="OTHERS"/>
  <p:tag name="ID" val="545840"/>
</p:tagLst>
</file>

<file path=ppt/tags/tag10.xml><?xml version="1.0" encoding="utf-8"?>
<p:tagLst xmlns:p="http://schemas.openxmlformats.org/presentationml/2006/main">
  <p:tag name="MH" val="20160830110547"/>
  <p:tag name="MH_LIBRARY" val="CONTENTS"/>
  <p:tag name="MH_TYPE" val="OTHERS"/>
  <p:tag name="ID" val="545840"/>
</p:tagLst>
</file>

<file path=ppt/tags/tag11.xml><?xml version="1.0" encoding="utf-8"?>
<p:tagLst xmlns:p="http://schemas.openxmlformats.org/presentationml/2006/main">
  <p:tag name="MH" val="20160830110547"/>
  <p:tag name="MH_LIBRARY" val="CONTENTS"/>
  <p:tag name="MH_TYPE" val="OTHERS"/>
  <p:tag name="ID" val="545840"/>
</p:tagLst>
</file>

<file path=ppt/tags/tag12.xml><?xml version="1.0" encoding="utf-8"?>
<p:tagLst xmlns:p="http://schemas.openxmlformats.org/presentationml/2006/main">
  <p:tag name="MH" val="20160830110547"/>
  <p:tag name="MH_LIBRARY" val="CONTENTS"/>
  <p:tag name="MH_TYPE" val="OTHERS"/>
  <p:tag name="ID" val="545840"/>
</p:tagLst>
</file>

<file path=ppt/tags/tag13.xml><?xml version="1.0" encoding="utf-8"?>
<p:tagLst xmlns:p="http://schemas.openxmlformats.org/presentationml/2006/main">
  <p:tag name="MH" val="20160830110547"/>
  <p:tag name="MH_LIBRARY" val="CONTENTS"/>
  <p:tag name="MH_TYPE" val="OTHERS"/>
  <p:tag name="ID" val="545840"/>
</p:tagLst>
</file>

<file path=ppt/tags/tag14.xml><?xml version="1.0" encoding="utf-8"?>
<p:tagLst xmlns:p="http://schemas.openxmlformats.org/presentationml/2006/main">
  <p:tag name="MH" val="20160830110547"/>
  <p:tag name="MH_LIBRARY" val="CONTENTS"/>
  <p:tag name="MH_TYPE" val="OTHERS"/>
  <p:tag name="ID" val="545840"/>
</p:tagLst>
</file>

<file path=ppt/tags/tag15.xml><?xml version="1.0" encoding="utf-8"?>
<p:tagLst xmlns:p="http://schemas.openxmlformats.org/presentationml/2006/main">
  <p:tag name="MH" val="20160830110547"/>
  <p:tag name="MH_LIBRARY" val="CONTENTS"/>
  <p:tag name="MH_TYPE" val="OTHERS"/>
  <p:tag name="ID" val="545840"/>
</p:tagLst>
</file>

<file path=ppt/tags/tag16.xml><?xml version="1.0" encoding="utf-8"?>
<p:tagLst xmlns:p="http://schemas.openxmlformats.org/presentationml/2006/main">
  <p:tag name="MH" val="20160830110547"/>
  <p:tag name="MH_LIBRARY" val="CONTENTS"/>
  <p:tag name="MH_TYPE" val="OTHERS"/>
  <p:tag name="ID" val="545840"/>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MH" val="20160830110547"/>
  <p:tag name="MH_LIBRARY" val="CONTENTS"/>
  <p:tag name="MH_TYPE" val="OTHERS"/>
  <p:tag name="ID" val="545840"/>
</p:tagLst>
</file>

<file path=ppt/tags/tag19.xml><?xml version="1.0" encoding="utf-8"?>
<p:tagLst xmlns:p="http://schemas.openxmlformats.org/presentationml/2006/main">
  <p:tag name="MH" val="20160830110547"/>
  <p:tag name="MH_LIBRARY" val="CONTENTS"/>
  <p:tag name="MH_TYPE" val="OTHERS"/>
  <p:tag name="ID" val="545840"/>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MH" val="20160830110547"/>
  <p:tag name="MH_LIBRARY" val="CONTENTS"/>
  <p:tag name="MH_TYPE" val="OTHERS"/>
  <p:tag name="ID" val="545840"/>
</p:tagLst>
</file>

<file path=ppt/tags/tag23.xml><?xml version="1.0" encoding="utf-8"?>
<p:tagLst xmlns:p="http://schemas.openxmlformats.org/presentationml/2006/main">
  <p:tag name="MH" val="20160830110547"/>
  <p:tag name="MH_LIBRARY" val="CONTENTS"/>
  <p:tag name="MH_TYPE" val="OTHERS"/>
  <p:tag name="ID" val="545840"/>
</p:tagLst>
</file>

<file path=ppt/tags/tag24.xml><?xml version="1.0" encoding="utf-8"?>
<p:tagLst xmlns:p="http://schemas.openxmlformats.org/presentationml/2006/main">
  <p:tag name="MH" val="20160830110547"/>
  <p:tag name="MH_LIBRARY" val="CONTENTS"/>
  <p:tag name="MH_TYPE" val="OTHERS"/>
  <p:tag name="ID" val="545840"/>
</p:tagLst>
</file>

<file path=ppt/tags/tag25.xml><?xml version="1.0" encoding="utf-8"?>
<p:tagLst xmlns:p="http://schemas.openxmlformats.org/presentationml/2006/main">
  <p:tag name="MH" val="20160830110547"/>
  <p:tag name="MH_LIBRARY" val="CONTENTS"/>
  <p:tag name="MH_TYPE" val="OTHERS"/>
  <p:tag name="ID" val="545840"/>
</p:tagLst>
</file>

<file path=ppt/tags/tag26.xml><?xml version="1.0" encoding="utf-8"?>
<p:tagLst xmlns:p="http://schemas.openxmlformats.org/presentationml/2006/main">
  <p:tag name="MH" val="20160830110547"/>
  <p:tag name="MH_LIBRARY" val="CONTENTS"/>
  <p:tag name="MH_TYPE" val="OTHERS"/>
  <p:tag name="ID" val="545840"/>
</p:tagLst>
</file>

<file path=ppt/tags/tag27.xml><?xml version="1.0" encoding="utf-8"?>
<p:tagLst xmlns:p="http://schemas.openxmlformats.org/presentationml/2006/main">
  <p:tag name="MH" val="20160830110547"/>
  <p:tag name="MH_LIBRARY" val="CONTENTS"/>
  <p:tag name="MH_TYPE" val="OTHERS"/>
  <p:tag name="ID" val="545840"/>
</p:tagLst>
</file>

<file path=ppt/tags/tag28.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29.xml><?xml version="1.0" encoding="utf-8"?>
<p:tagLst xmlns:p="http://schemas.openxmlformats.org/presentationml/2006/main">
  <p:tag name="commondata" val="eyJoZGlkIjoiYmEyODIxYjljZWU4OThlYTlmNzI5ZTYyNzBkMjIwOD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2128</Words>
  <Application>WPS 演示</Application>
  <PresentationFormat>宽屏</PresentationFormat>
  <Paragraphs>269</Paragraphs>
  <Slides>14</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宋体</vt:lpstr>
      <vt:lpstr>Wingdings</vt:lpstr>
      <vt:lpstr>方正黑体简体</vt:lpstr>
      <vt:lpstr>微软雅黑</vt:lpstr>
      <vt:lpstr>字魂59号-创粗黑</vt:lpstr>
      <vt:lpstr>Calibri</vt:lpstr>
      <vt:lpstr>Times New Roman</vt:lpstr>
      <vt:lpstr>黑体</vt:lpstr>
      <vt:lpstr>Arial Unicode MS</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qinqiuyue</dc:creator>
  <cp:lastModifiedBy>。</cp:lastModifiedBy>
  <cp:revision>237</cp:revision>
  <cp:lastPrinted>2023-08-23T13:18:00Z</cp:lastPrinted>
  <dcterms:created xsi:type="dcterms:W3CDTF">2023-08-23T13:02:00Z</dcterms:created>
  <dcterms:modified xsi:type="dcterms:W3CDTF">2024-09-25T04:11:38Z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557CA7EE22F1567B7C03E66470DDC59F_43</vt:lpwstr>
  </property>
</Properties>
</file>